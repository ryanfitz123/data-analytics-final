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7" r:id="rId10"/>
    <p:sldId id="261" r:id="rId11"/>
    <p:sldId id="262" r:id="rId12"/>
    <p:sldId id="263" r:id="rId13"/>
    <p:sldId id="264" r:id="rId14"/>
    <p:sldId id="266" r:id="rId15"/>
    <p:sldId id="268" r:id="rId16"/>
    <p:sldId id="265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9FE"/>
    <a:srgbClr val="E3F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B7BBF-DDA9-4B53-BCF1-3A08B931DFA5}" v="278" dt="2026-05-03T18:39:31.838"/>
    <p1510:client id="{A1E03843-BD7B-4165-BE39-DBA7CDFBC733}" v="1" dt="2026-05-03T22:44:47.642"/>
    <p1510:client id="{A7AB6A82-D493-46A7-936A-9F6FE1586F7F}" v="15" dt="2026-05-03T18:07:43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6C3B37-EF2B-4A6E-B006-50D2CE191139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A5706CD-5492-4C52-BFAF-B8C396A05F90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Identity</a:t>
          </a:r>
        </a:p>
      </dgm:t>
    </dgm:pt>
    <dgm:pt modelId="{C013B7AE-F2C6-4AB0-8A88-5C5A7C8D3267}" type="parTrans" cxnId="{52875A3B-BB6C-4FCA-967B-EBE369A3D168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8DDAA61D-4FCF-4E8B-B5A6-B60FBE28D52E}" type="sibTrans" cxnId="{52875A3B-BB6C-4FCA-967B-EBE369A3D168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4495934F-D91E-4097-A5C4-89B9E437BE21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serial_no, game_id, title, url_slug, cover_image_url, official_website</a:t>
          </a:r>
        </a:p>
      </dgm:t>
    </dgm:pt>
    <dgm:pt modelId="{3D6BBC29-203F-489E-882D-038CF794FAF1}" type="parTrans" cxnId="{DFF27E8E-C55F-4183-9DC1-6DCAEBB3FCA8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90DDDA1F-A26F-499F-ABF0-AB2DB5F1ADA5}" type="sibTrans" cxnId="{DFF27E8E-C55F-4183-9DC1-6DCAEBB3FCA8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76179106-700F-4E3B-B27A-47E2E5E1B7C3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Release Info</a:t>
          </a:r>
        </a:p>
      </dgm:t>
    </dgm:pt>
    <dgm:pt modelId="{A8C161F7-6A54-4FE4-A321-07E5C1F7729E}" type="parTrans" cxnId="{42F1F9CB-F986-4317-9486-CFAD03B9ADBE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4A05701C-711E-4837-B331-2DB7D8AD19B5}" type="sibTrans" cxnId="{42F1F9CB-F986-4317-9486-CFAD03B9ADBE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9645C534-9350-4B65-A3B3-8AD529428341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release_date, release_year, decade</a:t>
          </a:r>
        </a:p>
      </dgm:t>
    </dgm:pt>
    <dgm:pt modelId="{97E6F65A-C1ED-48A9-990B-040F655FF326}" type="parTrans" cxnId="{2390341E-2BF2-4D25-A51C-F1D43EA20C63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C0727D25-3702-449B-85C7-3E3C556DA62A}" type="sibTrans" cxnId="{2390341E-2BF2-4D25-A51C-F1D43EA20C63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47363ADE-F06E-4310-8347-F66EF3CEC970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Game Characteristics</a:t>
          </a:r>
        </a:p>
      </dgm:t>
    </dgm:pt>
    <dgm:pt modelId="{67183E4F-4196-49D5-AC6D-166B2DA51FDF}" type="parTrans" cxnId="{B9BDE6BD-25D9-4AAC-937F-39BBAB56A370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F8B1C15E-D71F-4212-B7B8-266B8A9B0194}" type="sibTrans" cxnId="{B9BDE6BD-25D9-4AAC-937F-39BBAB56A370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22CCC5EE-C730-4310-B196-C38F56FCF645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all_genres, theme, art_style, view_dimension, game_mode, is_multiplayer, is_multi_platform, controls</a:t>
          </a:r>
        </a:p>
      </dgm:t>
    </dgm:pt>
    <dgm:pt modelId="{BC677646-0B2E-4157-8B0E-69771F97E354}" type="parTrans" cxnId="{4F651A6F-DB96-48D0-A709-A37AF4AE852D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F4E6B32E-C6BC-40C7-A472-06E05E81202A}" type="sibTrans" cxnId="{4F651A6F-DB96-48D0-A709-A37AF4AE852D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5D5AEE73-027B-485C-B770-BCC5A7D9A508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Developers &amp; Publishers</a:t>
          </a:r>
        </a:p>
      </dgm:t>
    </dgm:pt>
    <dgm:pt modelId="{BE3F67F2-6A5E-4504-A382-BD908E9947CF}" type="parTrans" cxnId="{F8C96428-1CD2-4471-B2C0-679478794C12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2E87D79B-15E3-4DD3-B1D7-29A966CD487C}" type="sibTrans" cxnId="{F8C96428-1CD2-4471-B2C0-679478794C12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E9639C11-6AF1-4911-A296-286F9CD1AB90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developers, publishers</a:t>
          </a:r>
        </a:p>
      </dgm:t>
    </dgm:pt>
    <dgm:pt modelId="{1F919064-6122-4D88-A9A4-C2874856AAC5}" type="parTrans" cxnId="{48B3D170-69E7-4644-9DFB-F690F317D10A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6830AA5D-C683-4D6F-A491-266A6D5D6AE6}" type="sibTrans" cxnId="{48B3D170-69E7-4644-9DFB-F690F317D10A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5B820947-7014-4229-AA0A-47751BC779B3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Platforms &amp; Stores</a:t>
          </a:r>
        </a:p>
      </dgm:t>
    </dgm:pt>
    <dgm:pt modelId="{BB4745FB-B563-4909-8176-2F39D1CC5323}" type="parTrans" cxnId="{6DFF6EB4-FD4C-4FE1-9E7B-A9F73934414A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34B98E0F-9F32-4008-9B0C-B14611914740}" type="sibTrans" cxnId="{6DFF6EB4-FD4C-4FE1-9E7B-A9F73934414A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730FAAC0-7EF9-456E-A79C-59C90C0434B9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all_platforms, platform_count, available_stores</a:t>
          </a:r>
        </a:p>
      </dgm:t>
    </dgm:pt>
    <dgm:pt modelId="{8D3C848F-CD23-4C10-8C38-A45F603A8FF5}" type="parTrans" cxnId="{FCF617C5-DC2F-4ABD-B00A-9508EC268B6C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3F277F21-352A-41CD-9A72-E5E0C055BE16}" type="sibTrans" cxnId="{FCF617C5-DC2F-4ABD-B00A-9508EC268B6C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C9095C1F-5BFE-4B32-B1B6-C03BEDF0C225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Ratings &amp; Reviews</a:t>
          </a:r>
        </a:p>
      </dgm:t>
    </dgm:pt>
    <dgm:pt modelId="{2D6896AC-99AD-4B6C-BF34-33F7E5BF5D30}" type="parTrans" cxnId="{97D8DAF8-FACB-488F-90F1-9A3E7E51D1B2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5E0E8847-184E-486B-9F64-BD9F0AE7B9FC}" type="sibTrans" cxnId="{97D8DAF8-FACB-488F-90F1-9A3E7E51D1B2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65C49032-E4B1-4B42-8F6D-154DB79BEA98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user_rating, rating_tier, metacritic, metacritic_tier, ratings_count, reviews_count, esrb_rating</a:t>
          </a:r>
        </a:p>
      </dgm:t>
    </dgm:pt>
    <dgm:pt modelId="{97B6095E-B7D2-43D1-A808-FB92F939D6B5}" type="parTrans" cxnId="{DB0FDCB9-4D38-4791-8848-1DB38299F131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6ACEFFA5-2B1E-42FD-8550-00A21E59DC00}" type="sibTrans" cxnId="{DB0FDCB9-4D38-4791-8848-1DB38299F131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C6EA0F59-B16C-4194-B54F-A92055DE6FA9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Engagement &amp; Popularity</a:t>
          </a:r>
        </a:p>
      </dgm:t>
    </dgm:pt>
    <dgm:pt modelId="{1232EA71-38CF-460B-94AB-7027EEE3B08C}" type="parTrans" cxnId="{747932D7-6CE9-43C0-BD64-25E770E1F859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043E5FE8-ED93-4A73-B7CF-F4015878196E}" type="sibTrans" cxnId="{747932D7-6CE9-43C0-BD64-25E770E1F859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A1D82903-BFD9-4766-81F4-4F6A26F87DFA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popularity_score, engagement_score, library_count, avg_playtime_hours, achievements_count, game_series_count</a:t>
          </a:r>
        </a:p>
      </dgm:t>
    </dgm:pt>
    <dgm:pt modelId="{53C91AB6-00AA-4EA0-AE81-53C33DD4C3DC}" type="parTrans" cxnId="{18AB5782-0F9B-456C-A6E9-4496AE34E1E9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14F67F8B-B742-4671-A6FE-2EF4E3BB7F67}" type="sibTrans" cxnId="{18AB5782-0F9B-456C-A6E9-4496AE34E1E9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252393A0-D690-43D8-AF9D-B48B5A544989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Player Status Tracking</a:t>
          </a:r>
        </a:p>
      </dgm:t>
    </dgm:pt>
    <dgm:pt modelId="{76D8F71C-F5E5-4B5F-92AC-660C0E1AE5D3}" type="parTrans" cxnId="{F4D73C8C-E586-409C-9DE0-8C4A984C7143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93C08CC6-9684-4D67-B4D0-488285216104}" type="sibTrans" cxnId="{F4D73C8C-E586-409C-9DE0-8C4A984C7143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6CF20FCE-F132-4997-B7C7-F91E57B075FA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status_owned, status_beaten, status_playing, status_dropped, status_toplay, status_yet</a:t>
          </a:r>
        </a:p>
      </dgm:t>
    </dgm:pt>
    <dgm:pt modelId="{B42012F8-C4BE-4059-B497-6D6EF0178A71}" type="parTrans" cxnId="{BCCAF389-C176-4019-B631-D4CB57A9367C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12C1AC38-842D-419A-8E9E-2FA4B37298A6}" type="sibTrans" cxnId="{BCCAF389-C176-4019-B631-D4CB57A9367C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1B880849-C25A-4642-B6F0-F612A3CCD123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Tags &amp; Description</a:t>
          </a:r>
        </a:p>
      </dgm:t>
    </dgm:pt>
    <dgm:pt modelId="{87C9CAB6-DC71-4FCA-B40E-33D840669BBD}" type="parTrans" cxnId="{E6C7D4AB-E6CE-4476-B13F-E33F15782C35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F8077075-9F42-44D8-850A-7303EA46CE41}" type="sibTrans" cxnId="{E6C7D4AB-E6CE-4476-B13F-E33F15782C35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6312E141-34B4-44BD-A46F-66DE9115F8EE}">
      <dgm:prSet/>
      <dgm:spPr/>
      <dgm:t>
        <a:bodyPr/>
        <a:lstStyle/>
        <a:p>
          <a:r>
            <a:rPr lang="en-US">
              <a:latin typeface="Amasis MT Pro" panose="02040504050005020304" pitchFamily="18" charset="0"/>
            </a:rPr>
            <a:t>all_tags, description_clean</a:t>
          </a:r>
        </a:p>
      </dgm:t>
    </dgm:pt>
    <dgm:pt modelId="{8C9BAF1D-7FC0-432A-A244-3447957962FA}" type="parTrans" cxnId="{4BB3E1FD-0DBA-482D-BC5C-326F3F4A804E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B0E4B6A2-3F7F-46D8-AF6B-D82C8729CBF7}" type="sibTrans" cxnId="{4BB3E1FD-0DBA-482D-BC5C-326F3F4A804E}">
      <dgm:prSet/>
      <dgm:spPr/>
      <dgm:t>
        <a:bodyPr/>
        <a:lstStyle/>
        <a:p>
          <a:endParaRPr lang="en-US">
            <a:latin typeface="Amasis MT Pro" panose="02040504050005020304" pitchFamily="18" charset="0"/>
          </a:endParaRPr>
        </a:p>
      </dgm:t>
    </dgm:pt>
    <dgm:pt modelId="{2BBF9DD6-0FA7-4C0B-939C-CA8052F4E335}" type="pres">
      <dgm:prSet presAssocID="{CA6C3B37-EF2B-4A6E-B006-50D2CE191139}" presName="Name0" presStyleCnt="0">
        <dgm:presLayoutVars>
          <dgm:dir/>
          <dgm:animLvl val="lvl"/>
          <dgm:resizeHandles val="exact"/>
        </dgm:presLayoutVars>
      </dgm:prSet>
      <dgm:spPr/>
    </dgm:pt>
    <dgm:pt modelId="{2D9C5905-2FBC-496C-8119-216BC501292D}" type="pres">
      <dgm:prSet presAssocID="{BA5706CD-5492-4C52-BFAF-B8C396A05F90}" presName="linNode" presStyleCnt="0"/>
      <dgm:spPr/>
    </dgm:pt>
    <dgm:pt modelId="{B35313E7-0448-4B5C-A0DC-98D2577756BB}" type="pres">
      <dgm:prSet presAssocID="{BA5706CD-5492-4C52-BFAF-B8C396A05F90}" presName="parentText" presStyleLbl="alignNode1" presStyleIdx="0" presStyleCnt="9">
        <dgm:presLayoutVars>
          <dgm:chMax val="1"/>
          <dgm:bulletEnabled/>
        </dgm:presLayoutVars>
      </dgm:prSet>
      <dgm:spPr/>
    </dgm:pt>
    <dgm:pt modelId="{6BB271C8-BF5A-49E3-B5F8-41421FDDBE7E}" type="pres">
      <dgm:prSet presAssocID="{BA5706CD-5492-4C52-BFAF-B8C396A05F90}" presName="descendantText" presStyleLbl="alignAccFollowNode1" presStyleIdx="0" presStyleCnt="9">
        <dgm:presLayoutVars>
          <dgm:bulletEnabled/>
        </dgm:presLayoutVars>
      </dgm:prSet>
      <dgm:spPr/>
    </dgm:pt>
    <dgm:pt modelId="{0280470A-63B0-41A5-B3B4-BBDF8613C04E}" type="pres">
      <dgm:prSet presAssocID="{8DDAA61D-4FCF-4E8B-B5A6-B60FBE28D52E}" presName="sp" presStyleCnt="0"/>
      <dgm:spPr/>
    </dgm:pt>
    <dgm:pt modelId="{FEB348E2-EBBC-49F8-A35D-0EEBFFB62D99}" type="pres">
      <dgm:prSet presAssocID="{76179106-700F-4E3B-B27A-47E2E5E1B7C3}" presName="linNode" presStyleCnt="0"/>
      <dgm:spPr/>
    </dgm:pt>
    <dgm:pt modelId="{B32F3FDE-659E-4069-AF42-44110C4E69AD}" type="pres">
      <dgm:prSet presAssocID="{76179106-700F-4E3B-B27A-47E2E5E1B7C3}" presName="parentText" presStyleLbl="alignNode1" presStyleIdx="1" presStyleCnt="9">
        <dgm:presLayoutVars>
          <dgm:chMax val="1"/>
          <dgm:bulletEnabled/>
        </dgm:presLayoutVars>
      </dgm:prSet>
      <dgm:spPr/>
    </dgm:pt>
    <dgm:pt modelId="{10961700-8549-414A-B8E5-33F49611AADD}" type="pres">
      <dgm:prSet presAssocID="{76179106-700F-4E3B-B27A-47E2E5E1B7C3}" presName="descendantText" presStyleLbl="alignAccFollowNode1" presStyleIdx="1" presStyleCnt="9">
        <dgm:presLayoutVars>
          <dgm:bulletEnabled/>
        </dgm:presLayoutVars>
      </dgm:prSet>
      <dgm:spPr/>
    </dgm:pt>
    <dgm:pt modelId="{E4236F5E-4767-43EF-8995-200C4638DAEA}" type="pres">
      <dgm:prSet presAssocID="{4A05701C-711E-4837-B331-2DB7D8AD19B5}" presName="sp" presStyleCnt="0"/>
      <dgm:spPr/>
    </dgm:pt>
    <dgm:pt modelId="{82A8F8A1-E779-4581-BD7C-4A88A4FD2001}" type="pres">
      <dgm:prSet presAssocID="{47363ADE-F06E-4310-8347-F66EF3CEC970}" presName="linNode" presStyleCnt="0"/>
      <dgm:spPr/>
    </dgm:pt>
    <dgm:pt modelId="{16F58B1B-32F8-4340-A6E6-30C1F2919085}" type="pres">
      <dgm:prSet presAssocID="{47363ADE-F06E-4310-8347-F66EF3CEC970}" presName="parentText" presStyleLbl="alignNode1" presStyleIdx="2" presStyleCnt="9">
        <dgm:presLayoutVars>
          <dgm:chMax val="1"/>
          <dgm:bulletEnabled/>
        </dgm:presLayoutVars>
      </dgm:prSet>
      <dgm:spPr/>
    </dgm:pt>
    <dgm:pt modelId="{3B9AE47F-01F0-4925-B219-543843835052}" type="pres">
      <dgm:prSet presAssocID="{47363ADE-F06E-4310-8347-F66EF3CEC970}" presName="descendantText" presStyleLbl="alignAccFollowNode1" presStyleIdx="2" presStyleCnt="9">
        <dgm:presLayoutVars>
          <dgm:bulletEnabled/>
        </dgm:presLayoutVars>
      </dgm:prSet>
      <dgm:spPr/>
    </dgm:pt>
    <dgm:pt modelId="{1084DA61-2F1A-4D13-A475-671034120376}" type="pres">
      <dgm:prSet presAssocID="{F8B1C15E-D71F-4212-B7B8-266B8A9B0194}" presName="sp" presStyleCnt="0"/>
      <dgm:spPr/>
    </dgm:pt>
    <dgm:pt modelId="{D2583B23-AA35-450C-9B8C-B48B5AB28CA6}" type="pres">
      <dgm:prSet presAssocID="{5D5AEE73-027B-485C-B770-BCC5A7D9A508}" presName="linNode" presStyleCnt="0"/>
      <dgm:spPr/>
    </dgm:pt>
    <dgm:pt modelId="{E4B6C8D1-8280-42EC-8A79-2F42E48FDD7F}" type="pres">
      <dgm:prSet presAssocID="{5D5AEE73-027B-485C-B770-BCC5A7D9A508}" presName="parentText" presStyleLbl="alignNode1" presStyleIdx="3" presStyleCnt="9">
        <dgm:presLayoutVars>
          <dgm:chMax val="1"/>
          <dgm:bulletEnabled/>
        </dgm:presLayoutVars>
      </dgm:prSet>
      <dgm:spPr/>
    </dgm:pt>
    <dgm:pt modelId="{22254C12-D281-4D21-B680-BD642978DE14}" type="pres">
      <dgm:prSet presAssocID="{5D5AEE73-027B-485C-B770-BCC5A7D9A508}" presName="descendantText" presStyleLbl="alignAccFollowNode1" presStyleIdx="3" presStyleCnt="9">
        <dgm:presLayoutVars>
          <dgm:bulletEnabled/>
        </dgm:presLayoutVars>
      </dgm:prSet>
      <dgm:spPr/>
    </dgm:pt>
    <dgm:pt modelId="{79FD7CAE-3716-423C-A659-19A194A19C16}" type="pres">
      <dgm:prSet presAssocID="{2E87D79B-15E3-4DD3-B1D7-29A966CD487C}" presName="sp" presStyleCnt="0"/>
      <dgm:spPr/>
    </dgm:pt>
    <dgm:pt modelId="{A218FE52-8156-41AE-A554-EE9ACD10CCE9}" type="pres">
      <dgm:prSet presAssocID="{5B820947-7014-4229-AA0A-47751BC779B3}" presName="linNode" presStyleCnt="0"/>
      <dgm:spPr/>
    </dgm:pt>
    <dgm:pt modelId="{4C89DCC0-75A1-4689-B6E6-01B878134C4C}" type="pres">
      <dgm:prSet presAssocID="{5B820947-7014-4229-AA0A-47751BC779B3}" presName="parentText" presStyleLbl="alignNode1" presStyleIdx="4" presStyleCnt="9">
        <dgm:presLayoutVars>
          <dgm:chMax val="1"/>
          <dgm:bulletEnabled/>
        </dgm:presLayoutVars>
      </dgm:prSet>
      <dgm:spPr/>
    </dgm:pt>
    <dgm:pt modelId="{FA0D09DF-A7FA-4EFC-9DB8-93498B14E577}" type="pres">
      <dgm:prSet presAssocID="{5B820947-7014-4229-AA0A-47751BC779B3}" presName="descendantText" presStyleLbl="alignAccFollowNode1" presStyleIdx="4" presStyleCnt="9">
        <dgm:presLayoutVars>
          <dgm:bulletEnabled/>
        </dgm:presLayoutVars>
      </dgm:prSet>
      <dgm:spPr/>
    </dgm:pt>
    <dgm:pt modelId="{CAD63078-83E1-49C5-99A4-356A069C03C4}" type="pres">
      <dgm:prSet presAssocID="{34B98E0F-9F32-4008-9B0C-B14611914740}" presName="sp" presStyleCnt="0"/>
      <dgm:spPr/>
    </dgm:pt>
    <dgm:pt modelId="{4134B935-1593-49BA-A1CF-67B15AE2D671}" type="pres">
      <dgm:prSet presAssocID="{C9095C1F-5BFE-4B32-B1B6-C03BEDF0C225}" presName="linNode" presStyleCnt="0"/>
      <dgm:spPr/>
    </dgm:pt>
    <dgm:pt modelId="{D9DDB646-96C0-407B-8530-4A04AB566D89}" type="pres">
      <dgm:prSet presAssocID="{C9095C1F-5BFE-4B32-B1B6-C03BEDF0C225}" presName="parentText" presStyleLbl="alignNode1" presStyleIdx="5" presStyleCnt="9">
        <dgm:presLayoutVars>
          <dgm:chMax val="1"/>
          <dgm:bulletEnabled/>
        </dgm:presLayoutVars>
      </dgm:prSet>
      <dgm:spPr/>
    </dgm:pt>
    <dgm:pt modelId="{EDAA7C70-B554-40EB-BD7F-3AD8BF620456}" type="pres">
      <dgm:prSet presAssocID="{C9095C1F-5BFE-4B32-B1B6-C03BEDF0C225}" presName="descendantText" presStyleLbl="alignAccFollowNode1" presStyleIdx="5" presStyleCnt="9">
        <dgm:presLayoutVars>
          <dgm:bulletEnabled/>
        </dgm:presLayoutVars>
      </dgm:prSet>
      <dgm:spPr/>
    </dgm:pt>
    <dgm:pt modelId="{3135FFA7-C3F7-4418-82D5-D964D976E5BB}" type="pres">
      <dgm:prSet presAssocID="{5E0E8847-184E-486B-9F64-BD9F0AE7B9FC}" presName="sp" presStyleCnt="0"/>
      <dgm:spPr/>
    </dgm:pt>
    <dgm:pt modelId="{FD9621D6-6258-4E0C-8EAA-FB55736148B9}" type="pres">
      <dgm:prSet presAssocID="{C6EA0F59-B16C-4194-B54F-A92055DE6FA9}" presName="linNode" presStyleCnt="0"/>
      <dgm:spPr/>
    </dgm:pt>
    <dgm:pt modelId="{F4CB04F9-0B44-458A-BCCD-25BB2DD2C89C}" type="pres">
      <dgm:prSet presAssocID="{C6EA0F59-B16C-4194-B54F-A92055DE6FA9}" presName="parentText" presStyleLbl="alignNode1" presStyleIdx="6" presStyleCnt="9">
        <dgm:presLayoutVars>
          <dgm:chMax val="1"/>
          <dgm:bulletEnabled/>
        </dgm:presLayoutVars>
      </dgm:prSet>
      <dgm:spPr/>
    </dgm:pt>
    <dgm:pt modelId="{736E2B05-B636-4051-AE36-27E15F5031A0}" type="pres">
      <dgm:prSet presAssocID="{C6EA0F59-B16C-4194-B54F-A92055DE6FA9}" presName="descendantText" presStyleLbl="alignAccFollowNode1" presStyleIdx="6" presStyleCnt="9">
        <dgm:presLayoutVars>
          <dgm:bulletEnabled/>
        </dgm:presLayoutVars>
      </dgm:prSet>
      <dgm:spPr/>
    </dgm:pt>
    <dgm:pt modelId="{9DD6A083-C675-4688-8A1B-F17587CC1400}" type="pres">
      <dgm:prSet presAssocID="{043E5FE8-ED93-4A73-B7CF-F4015878196E}" presName="sp" presStyleCnt="0"/>
      <dgm:spPr/>
    </dgm:pt>
    <dgm:pt modelId="{9E93C39F-1040-4E6E-9C07-910D19B54BE7}" type="pres">
      <dgm:prSet presAssocID="{252393A0-D690-43D8-AF9D-B48B5A544989}" presName="linNode" presStyleCnt="0"/>
      <dgm:spPr/>
    </dgm:pt>
    <dgm:pt modelId="{1149D3E6-5671-4DF1-8FF1-3836D8B9A314}" type="pres">
      <dgm:prSet presAssocID="{252393A0-D690-43D8-AF9D-B48B5A544989}" presName="parentText" presStyleLbl="alignNode1" presStyleIdx="7" presStyleCnt="9">
        <dgm:presLayoutVars>
          <dgm:chMax val="1"/>
          <dgm:bulletEnabled/>
        </dgm:presLayoutVars>
      </dgm:prSet>
      <dgm:spPr/>
    </dgm:pt>
    <dgm:pt modelId="{7C2983EB-B127-43DE-9F60-623D20947DF6}" type="pres">
      <dgm:prSet presAssocID="{252393A0-D690-43D8-AF9D-B48B5A544989}" presName="descendantText" presStyleLbl="alignAccFollowNode1" presStyleIdx="7" presStyleCnt="9">
        <dgm:presLayoutVars>
          <dgm:bulletEnabled/>
        </dgm:presLayoutVars>
      </dgm:prSet>
      <dgm:spPr/>
    </dgm:pt>
    <dgm:pt modelId="{60792243-F41B-4E0F-A4E5-9AA4A01670D3}" type="pres">
      <dgm:prSet presAssocID="{93C08CC6-9684-4D67-B4D0-488285216104}" presName="sp" presStyleCnt="0"/>
      <dgm:spPr/>
    </dgm:pt>
    <dgm:pt modelId="{36B6B405-71B5-4B42-89ED-0EF7B852D7FB}" type="pres">
      <dgm:prSet presAssocID="{1B880849-C25A-4642-B6F0-F612A3CCD123}" presName="linNode" presStyleCnt="0"/>
      <dgm:spPr/>
    </dgm:pt>
    <dgm:pt modelId="{21466340-CB5C-4072-8E7A-8658B11B69B7}" type="pres">
      <dgm:prSet presAssocID="{1B880849-C25A-4642-B6F0-F612A3CCD123}" presName="parentText" presStyleLbl="alignNode1" presStyleIdx="8" presStyleCnt="9">
        <dgm:presLayoutVars>
          <dgm:chMax val="1"/>
          <dgm:bulletEnabled/>
        </dgm:presLayoutVars>
      </dgm:prSet>
      <dgm:spPr/>
    </dgm:pt>
    <dgm:pt modelId="{AA0CD981-89DD-44C1-BD56-672B3CE2867B}" type="pres">
      <dgm:prSet presAssocID="{1B880849-C25A-4642-B6F0-F612A3CCD123}" presName="descendantText" presStyleLbl="alignAccFollowNode1" presStyleIdx="8" presStyleCnt="9">
        <dgm:presLayoutVars>
          <dgm:bulletEnabled/>
        </dgm:presLayoutVars>
      </dgm:prSet>
      <dgm:spPr/>
    </dgm:pt>
  </dgm:ptLst>
  <dgm:cxnLst>
    <dgm:cxn modelId="{0B1FA300-055F-4781-BAF6-E783AB006277}" type="presOf" srcId="{76179106-700F-4E3B-B27A-47E2E5E1B7C3}" destId="{B32F3FDE-659E-4069-AF42-44110C4E69AD}" srcOrd="0" destOrd="0" presId="urn:microsoft.com/office/officeart/2016/7/layout/VerticalSolidActionList"/>
    <dgm:cxn modelId="{73FF1505-A1A7-4BA8-8505-F2A2A4BB53EF}" type="presOf" srcId="{65C49032-E4B1-4B42-8F6D-154DB79BEA98}" destId="{EDAA7C70-B554-40EB-BD7F-3AD8BF620456}" srcOrd="0" destOrd="0" presId="urn:microsoft.com/office/officeart/2016/7/layout/VerticalSolidActionList"/>
    <dgm:cxn modelId="{FCDEA91C-4387-4ADE-9A33-A7A8FD06DE6E}" type="presOf" srcId="{CA6C3B37-EF2B-4A6E-B006-50D2CE191139}" destId="{2BBF9DD6-0FA7-4C0B-939C-CA8052F4E335}" srcOrd="0" destOrd="0" presId="urn:microsoft.com/office/officeart/2016/7/layout/VerticalSolidActionList"/>
    <dgm:cxn modelId="{2390341E-2BF2-4D25-A51C-F1D43EA20C63}" srcId="{76179106-700F-4E3B-B27A-47E2E5E1B7C3}" destId="{9645C534-9350-4B65-A3B3-8AD529428341}" srcOrd="0" destOrd="0" parTransId="{97E6F65A-C1ED-48A9-990B-040F655FF326}" sibTransId="{C0727D25-3702-449B-85C7-3E3C556DA62A}"/>
    <dgm:cxn modelId="{F8C96428-1CD2-4471-B2C0-679478794C12}" srcId="{CA6C3B37-EF2B-4A6E-B006-50D2CE191139}" destId="{5D5AEE73-027B-485C-B770-BCC5A7D9A508}" srcOrd="3" destOrd="0" parTransId="{BE3F67F2-6A5E-4504-A382-BD908E9947CF}" sibTransId="{2E87D79B-15E3-4DD3-B1D7-29A966CD487C}"/>
    <dgm:cxn modelId="{BAE4BE33-573D-474C-8C7E-1343B26D2050}" type="presOf" srcId="{5D5AEE73-027B-485C-B770-BCC5A7D9A508}" destId="{E4B6C8D1-8280-42EC-8A79-2F42E48FDD7F}" srcOrd="0" destOrd="0" presId="urn:microsoft.com/office/officeart/2016/7/layout/VerticalSolidActionList"/>
    <dgm:cxn modelId="{52875A3B-BB6C-4FCA-967B-EBE369A3D168}" srcId="{CA6C3B37-EF2B-4A6E-B006-50D2CE191139}" destId="{BA5706CD-5492-4C52-BFAF-B8C396A05F90}" srcOrd="0" destOrd="0" parTransId="{C013B7AE-F2C6-4AB0-8A88-5C5A7C8D3267}" sibTransId="{8DDAA61D-4FCF-4E8B-B5A6-B60FBE28D52E}"/>
    <dgm:cxn modelId="{AB42F748-A087-4548-BA69-A38AA91AD480}" type="presOf" srcId="{6CF20FCE-F132-4997-B7C7-F91E57B075FA}" destId="{7C2983EB-B127-43DE-9F60-623D20947DF6}" srcOrd="0" destOrd="0" presId="urn:microsoft.com/office/officeart/2016/7/layout/VerticalSolidActionList"/>
    <dgm:cxn modelId="{4B160A6F-0017-4691-AE9F-1468F533BDBE}" type="presOf" srcId="{22CCC5EE-C730-4310-B196-C38F56FCF645}" destId="{3B9AE47F-01F0-4925-B219-543843835052}" srcOrd="0" destOrd="0" presId="urn:microsoft.com/office/officeart/2016/7/layout/VerticalSolidActionList"/>
    <dgm:cxn modelId="{4F651A6F-DB96-48D0-A709-A37AF4AE852D}" srcId="{47363ADE-F06E-4310-8347-F66EF3CEC970}" destId="{22CCC5EE-C730-4310-B196-C38F56FCF645}" srcOrd="0" destOrd="0" parTransId="{BC677646-0B2E-4157-8B0E-69771F97E354}" sibTransId="{F4E6B32E-C6BC-40C7-A472-06E05E81202A}"/>
    <dgm:cxn modelId="{48B3D170-69E7-4644-9DFB-F690F317D10A}" srcId="{5D5AEE73-027B-485C-B770-BCC5A7D9A508}" destId="{E9639C11-6AF1-4911-A296-286F9CD1AB90}" srcOrd="0" destOrd="0" parTransId="{1F919064-6122-4D88-A9A4-C2874856AAC5}" sibTransId="{6830AA5D-C683-4D6F-A491-266A6D5D6AE6}"/>
    <dgm:cxn modelId="{5B070672-14D0-4F9F-9DDB-3B57FD079D3D}" type="presOf" srcId="{9645C534-9350-4B65-A3B3-8AD529428341}" destId="{10961700-8549-414A-B8E5-33F49611AADD}" srcOrd="0" destOrd="0" presId="urn:microsoft.com/office/officeart/2016/7/layout/VerticalSolidActionList"/>
    <dgm:cxn modelId="{57F65373-37BD-4A55-B934-EA0D720BDE51}" type="presOf" srcId="{BA5706CD-5492-4C52-BFAF-B8C396A05F90}" destId="{B35313E7-0448-4B5C-A0DC-98D2577756BB}" srcOrd="0" destOrd="0" presId="urn:microsoft.com/office/officeart/2016/7/layout/VerticalSolidActionList"/>
    <dgm:cxn modelId="{8813B879-8CDE-4738-ACA6-99207C111243}" type="presOf" srcId="{5B820947-7014-4229-AA0A-47751BC779B3}" destId="{4C89DCC0-75A1-4689-B6E6-01B878134C4C}" srcOrd="0" destOrd="0" presId="urn:microsoft.com/office/officeart/2016/7/layout/VerticalSolidActionList"/>
    <dgm:cxn modelId="{BB4B017D-3E35-4B78-8A97-CFEC798C9041}" type="presOf" srcId="{E9639C11-6AF1-4911-A296-286F9CD1AB90}" destId="{22254C12-D281-4D21-B680-BD642978DE14}" srcOrd="0" destOrd="0" presId="urn:microsoft.com/office/officeart/2016/7/layout/VerticalSolidActionList"/>
    <dgm:cxn modelId="{18AB5782-0F9B-456C-A6E9-4496AE34E1E9}" srcId="{C6EA0F59-B16C-4194-B54F-A92055DE6FA9}" destId="{A1D82903-BFD9-4766-81F4-4F6A26F87DFA}" srcOrd="0" destOrd="0" parTransId="{53C91AB6-00AA-4EA0-AE81-53C33DD4C3DC}" sibTransId="{14F67F8B-B742-4671-A6FE-2EF4E3BB7F67}"/>
    <dgm:cxn modelId="{BCCAF389-C176-4019-B631-D4CB57A9367C}" srcId="{252393A0-D690-43D8-AF9D-B48B5A544989}" destId="{6CF20FCE-F132-4997-B7C7-F91E57B075FA}" srcOrd="0" destOrd="0" parTransId="{B42012F8-C4BE-4059-B497-6D6EF0178A71}" sibTransId="{12C1AC38-842D-419A-8E9E-2FA4B37298A6}"/>
    <dgm:cxn modelId="{F4D73C8C-E586-409C-9DE0-8C4A984C7143}" srcId="{CA6C3B37-EF2B-4A6E-B006-50D2CE191139}" destId="{252393A0-D690-43D8-AF9D-B48B5A544989}" srcOrd="7" destOrd="0" parTransId="{76D8F71C-F5E5-4B5F-92AC-660C0E1AE5D3}" sibTransId="{93C08CC6-9684-4D67-B4D0-488285216104}"/>
    <dgm:cxn modelId="{DFF27E8E-C55F-4183-9DC1-6DCAEBB3FCA8}" srcId="{BA5706CD-5492-4C52-BFAF-B8C396A05F90}" destId="{4495934F-D91E-4097-A5C4-89B9E437BE21}" srcOrd="0" destOrd="0" parTransId="{3D6BBC29-203F-489E-882D-038CF794FAF1}" sibTransId="{90DDDA1F-A26F-499F-ABF0-AB2DB5F1ADA5}"/>
    <dgm:cxn modelId="{DC40159E-51F8-4205-8CEA-A444170CC58B}" type="presOf" srcId="{6312E141-34B4-44BD-A46F-66DE9115F8EE}" destId="{AA0CD981-89DD-44C1-BD56-672B3CE2867B}" srcOrd="0" destOrd="0" presId="urn:microsoft.com/office/officeart/2016/7/layout/VerticalSolidActionList"/>
    <dgm:cxn modelId="{7EBEAEA6-D3E9-4A2D-BFB9-CE08FDA4B8CE}" type="presOf" srcId="{1B880849-C25A-4642-B6F0-F612A3CCD123}" destId="{21466340-CB5C-4072-8E7A-8658B11B69B7}" srcOrd="0" destOrd="0" presId="urn:microsoft.com/office/officeart/2016/7/layout/VerticalSolidActionList"/>
    <dgm:cxn modelId="{E6C7D4AB-E6CE-4476-B13F-E33F15782C35}" srcId="{CA6C3B37-EF2B-4A6E-B006-50D2CE191139}" destId="{1B880849-C25A-4642-B6F0-F612A3CCD123}" srcOrd="8" destOrd="0" parTransId="{87C9CAB6-DC71-4FCA-B40E-33D840669BBD}" sibTransId="{F8077075-9F42-44D8-850A-7303EA46CE41}"/>
    <dgm:cxn modelId="{6DFF6EB4-FD4C-4FE1-9E7B-A9F73934414A}" srcId="{CA6C3B37-EF2B-4A6E-B006-50D2CE191139}" destId="{5B820947-7014-4229-AA0A-47751BC779B3}" srcOrd="4" destOrd="0" parTransId="{BB4745FB-B563-4909-8176-2F39D1CC5323}" sibTransId="{34B98E0F-9F32-4008-9B0C-B14611914740}"/>
    <dgm:cxn modelId="{3183B5B6-14D8-4CDB-A8E3-7DF9BC9F803E}" type="presOf" srcId="{252393A0-D690-43D8-AF9D-B48B5A544989}" destId="{1149D3E6-5671-4DF1-8FF1-3836D8B9A314}" srcOrd="0" destOrd="0" presId="urn:microsoft.com/office/officeart/2016/7/layout/VerticalSolidActionList"/>
    <dgm:cxn modelId="{DB0FDCB9-4D38-4791-8848-1DB38299F131}" srcId="{C9095C1F-5BFE-4B32-B1B6-C03BEDF0C225}" destId="{65C49032-E4B1-4B42-8F6D-154DB79BEA98}" srcOrd="0" destOrd="0" parTransId="{97B6095E-B7D2-43D1-A808-FB92F939D6B5}" sibTransId="{6ACEFFA5-2B1E-42FD-8550-00A21E59DC00}"/>
    <dgm:cxn modelId="{B9BDE6BD-25D9-4AAC-937F-39BBAB56A370}" srcId="{CA6C3B37-EF2B-4A6E-B006-50D2CE191139}" destId="{47363ADE-F06E-4310-8347-F66EF3CEC970}" srcOrd="2" destOrd="0" parTransId="{67183E4F-4196-49D5-AC6D-166B2DA51FDF}" sibTransId="{F8B1C15E-D71F-4212-B7B8-266B8A9B0194}"/>
    <dgm:cxn modelId="{FCF617C5-DC2F-4ABD-B00A-9508EC268B6C}" srcId="{5B820947-7014-4229-AA0A-47751BC779B3}" destId="{730FAAC0-7EF9-456E-A79C-59C90C0434B9}" srcOrd="0" destOrd="0" parTransId="{8D3C848F-CD23-4C10-8C38-A45F603A8FF5}" sibTransId="{3F277F21-352A-41CD-9A72-E5E0C055BE16}"/>
    <dgm:cxn modelId="{2C92F3CB-3EA0-499C-A7B3-A709A8D80EC2}" type="presOf" srcId="{C6EA0F59-B16C-4194-B54F-A92055DE6FA9}" destId="{F4CB04F9-0B44-458A-BCCD-25BB2DD2C89C}" srcOrd="0" destOrd="0" presId="urn:microsoft.com/office/officeart/2016/7/layout/VerticalSolidActionList"/>
    <dgm:cxn modelId="{42F1F9CB-F986-4317-9486-CFAD03B9ADBE}" srcId="{CA6C3B37-EF2B-4A6E-B006-50D2CE191139}" destId="{76179106-700F-4E3B-B27A-47E2E5E1B7C3}" srcOrd="1" destOrd="0" parTransId="{A8C161F7-6A54-4FE4-A321-07E5C1F7729E}" sibTransId="{4A05701C-711E-4837-B331-2DB7D8AD19B5}"/>
    <dgm:cxn modelId="{747932D7-6CE9-43C0-BD64-25E770E1F859}" srcId="{CA6C3B37-EF2B-4A6E-B006-50D2CE191139}" destId="{C6EA0F59-B16C-4194-B54F-A92055DE6FA9}" srcOrd="6" destOrd="0" parTransId="{1232EA71-38CF-460B-94AB-7027EEE3B08C}" sibTransId="{043E5FE8-ED93-4A73-B7CF-F4015878196E}"/>
    <dgm:cxn modelId="{A94981D9-61A3-44C4-B6E3-9F605AA28BB4}" type="presOf" srcId="{4495934F-D91E-4097-A5C4-89B9E437BE21}" destId="{6BB271C8-BF5A-49E3-B5F8-41421FDDBE7E}" srcOrd="0" destOrd="0" presId="urn:microsoft.com/office/officeart/2016/7/layout/VerticalSolidActionList"/>
    <dgm:cxn modelId="{22D6FFDD-0A19-4E83-943E-92FE38C7138B}" type="presOf" srcId="{47363ADE-F06E-4310-8347-F66EF3CEC970}" destId="{16F58B1B-32F8-4340-A6E6-30C1F2919085}" srcOrd="0" destOrd="0" presId="urn:microsoft.com/office/officeart/2016/7/layout/VerticalSolidActionList"/>
    <dgm:cxn modelId="{FB7246DE-684A-44AC-B71B-4289AD9D4677}" type="presOf" srcId="{A1D82903-BFD9-4766-81F4-4F6A26F87DFA}" destId="{736E2B05-B636-4051-AE36-27E15F5031A0}" srcOrd="0" destOrd="0" presId="urn:microsoft.com/office/officeart/2016/7/layout/VerticalSolidActionList"/>
    <dgm:cxn modelId="{865B4BDF-AC7F-481B-831D-5531F8C602E3}" type="presOf" srcId="{730FAAC0-7EF9-456E-A79C-59C90C0434B9}" destId="{FA0D09DF-A7FA-4EFC-9DB8-93498B14E577}" srcOrd="0" destOrd="0" presId="urn:microsoft.com/office/officeart/2016/7/layout/VerticalSolidActionList"/>
    <dgm:cxn modelId="{35EE76EB-DAE5-490C-BCB4-9219B618F5DC}" type="presOf" srcId="{C9095C1F-5BFE-4B32-B1B6-C03BEDF0C225}" destId="{D9DDB646-96C0-407B-8530-4A04AB566D89}" srcOrd="0" destOrd="0" presId="urn:microsoft.com/office/officeart/2016/7/layout/VerticalSolidActionList"/>
    <dgm:cxn modelId="{97D8DAF8-FACB-488F-90F1-9A3E7E51D1B2}" srcId="{CA6C3B37-EF2B-4A6E-B006-50D2CE191139}" destId="{C9095C1F-5BFE-4B32-B1B6-C03BEDF0C225}" srcOrd="5" destOrd="0" parTransId="{2D6896AC-99AD-4B6C-BF34-33F7E5BF5D30}" sibTransId="{5E0E8847-184E-486B-9F64-BD9F0AE7B9FC}"/>
    <dgm:cxn modelId="{4BB3E1FD-0DBA-482D-BC5C-326F3F4A804E}" srcId="{1B880849-C25A-4642-B6F0-F612A3CCD123}" destId="{6312E141-34B4-44BD-A46F-66DE9115F8EE}" srcOrd="0" destOrd="0" parTransId="{8C9BAF1D-7FC0-432A-A244-3447957962FA}" sibTransId="{B0E4B6A2-3F7F-46D8-AF6B-D82C8729CBF7}"/>
    <dgm:cxn modelId="{35CD0CC8-405A-424A-8B78-E20CDC505D89}" type="presParOf" srcId="{2BBF9DD6-0FA7-4C0B-939C-CA8052F4E335}" destId="{2D9C5905-2FBC-496C-8119-216BC501292D}" srcOrd="0" destOrd="0" presId="urn:microsoft.com/office/officeart/2016/7/layout/VerticalSolidActionList"/>
    <dgm:cxn modelId="{D42C0C91-6B75-488B-BCC3-364AB2536CA8}" type="presParOf" srcId="{2D9C5905-2FBC-496C-8119-216BC501292D}" destId="{B35313E7-0448-4B5C-A0DC-98D2577756BB}" srcOrd="0" destOrd="0" presId="urn:microsoft.com/office/officeart/2016/7/layout/VerticalSolidActionList"/>
    <dgm:cxn modelId="{3381B6A7-0DC4-44CB-A8BB-21E5092D7DED}" type="presParOf" srcId="{2D9C5905-2FBC-496C-8119-216BC501292D}" destId="{6BB271C8-BF5A-49E3-B5F8-41421FDDBE7E}" srcOrd="1" destOrd="0" presId="urn:microsoft.com/office/officeart/2016/7/layout/VerticalSolidActionList"/>
    <dgm:cxn modelId="{C0AFA4EC-9BA8-48AD-9A4E-97EF38BBC43D}" type="presParOf" srcId="{2BBF9DD6-0FA7-4C0B-939C-CA8052F4E335}" destId="{0280470A-63B0-41A5-B3B4-BBDF8613C04E}" srcOrd="1" destOrd="0" presId="urn:microsoft.com/office/officeart/2016/7/layout/VerticalSolidActionList"/>
    <dgm:cxn modelId="{6A5AE194-EDF1-4154-855F-F3AE4B5A296E}" type="presParOf" srcId="{2BBF9DD6-0FA7-4C0B-939C-CA8052F4E335}" destId="{FEB348E2-EBBC-49F8-A35D-0EEBFFB62D99}" srcOrd="2" destOrd="0" presId="urn:microsoft.com/office/officeart/2016/7/layout/VerticalSolidActionList"/>
    <dgm:cxn modelId="{851044E9-AAFE-4B98-9515-0FBACC8256BE}" type="presParOf" srcId="{FEB348E2-EBBC-49F8-A35D-0EEBFFB62D99}" destId="{B32F3FDE-659E-4069-AF42-44110C4E69AD}" srcOrd="0" destOrd="0" presId="urn:microsoft.com/office/officeart/2016/7/layout/VerticalSolidActionList"/>
    <dgm:cxn modelId="{48D9A0D1-F941-4460-8BEA-0B16E2D1ABC8}" type="presParOf" srcId="{FEB348E2-EBBC-49F8-A35D-0EEBFFB62D99}" destId="{10961700-8549-414A-B8E5-33F49611AADD}" srcOrd="1" destOrd="0" presId="urn:microsoft.com/office/officeart/2016/7/layout/VerticalSolidActionList"/>
    <dgm:cxn modelId="{378AF101-9436-4686-A37C-063E09A6944A}" type="presParOf" srcId="{2BBF9DD6-0FA7-4C0B-939C-CA8052F4E335}" destId="{E4236F5E-4767-43EF-8995-200C4638DAEA}" srcOrd="3" destOrd="0" presId="urn:microsoft.com/office/officeart/2016/7/layout/VerticalSolidActionList"/>
    <dgm:cxn modelId="{6C591436-FFB6-4657-B781-B51C78B352F0}" type="presParOf" srcId="{2BBF9DD6-0FA7-4C0B-939C-CA8052F4E335}" destId="{82A8F8A1-E779-4581-BD7C-4A88A4FD2001}" srcOrd="4" destOrd="0" presId="urn:microsoft.com/office/officeart/2016/7/layout/VerticalSolidActionList"/>
    <dgm:cxn modelId="{523D0759-7A5F-42F0-B76E-B59D029AF701}" type="presParOf" srcId="{82A8F8A1-E779-4581-BD7C-4A88A4FD2001}" destId="{16F58B1B-32F8-4340-A6E6-30C1F2919085}" srcOrd="0" destOrd="0" presId="urn:microsoft.com/office/officeart/2016/7/layout/VerticalSolidActionList"/>
    <dgm:cxn modelId="{5C9D78EE-5EB2-4047-ABDF-C77F1EAFA65A}" type="presParOf" srcId="{82A8F8A1-E779-4581-BD7C-4A88A4FD2001}" destId="{3B9AE47F-01F0-4925-B219-543843835052}" srcOrd="1" destOrd="0" presId="urn:microsoft.com/office/officeart/2016/7/layout/VerticalSolidActionList"/>
    <dgm:cxn modelId="{B4D0BA18-3EF4-4743-9725-EDE4249D0211}" type="presParOf" srcId="{2BBF9DD6-0FA7-4C0B-939C-CA8052F4E335}" destId="{1084DA61-2F1A-4D13-A475-671034120376}" srcOrd="5" destOrd="0" presId="urn:microsoft.com/office/officeart/2016/7/layout/VerticalSolidActionList"/>
    <dgm:cxn modelId="{DD8AFEC1-5B7B-42E7-B568-FAA4D4080D83}" type="presParOf" srcId="{2BBF9DD6-0FA7-4C0B-939C-CA8052F4E335}" destId="{D2583B23-AA35-450C-9B8C-B48B5AB28CA6}" srcOrd="6" destOrd="0" presId="urn:microsoft.com/office/officeart/2016/7/layout/VerticalSolidActionList"/>
    <dgm:cxn modelId="{F717A114-0ECE-4DC7-B0AE-556CB69ECCF3}" type="presParOf" srcId="{D2583B23-AA35-450C-9B8C-B48B5AB28CA6}" destId="{E4B6C8D1-8280-42EC-8A79-2F42E48FDD7F}" srcOrd="0" destOrd="0" presId="urn:microsoft.com/office/officeart/2016/7/layout/VerticalSolidActionList"/>
    <dgm:cxn modelId="{9787960F-56E2-4C8C-BF49-6AA4573C653D}" type="presParOf" srcId="{D2583B23-AA35-450C-9B8C-B48B5AB28CA6}" destId="{22254C12-D281-4D21-B680-BD642978DE14}" srcOrd="1" destOrd="0" presId="urn:microsoft.com/office/officeart/2016/7/layout/VerticalSolidActionList"/>
    <dgm:cxn modelId="{5046A0A8-ABB6-444A-9C77-63F0A8D58A90}" type="presParOf" srcId="{2BBF9DD6-0FA7-4C0B-939C-CA8052F4E335}" destId="{79FD7CAE-3716-423C-A659-19A194A19C16}" srcOrd="7" destOrd="0" presId="urn:microsoft.com/office/officeart/2016/7/layout/VerticalSolidActionList"/>
    <dgm:cxn modelId="{9540F132-CFD0-463C-BBE0-551482CAAE91}" type="presParOf" srcId="{2BBF9DD6-0FA7-4C0B-939C-CA8052F4E335}" destId="{A218FE52-8156-41AE-A554-EE9ACD10CCE9}" srcOrd="8" destOrd="0" presId="urn:microsoft.com/office/officeart/2016/7/layout/VerticalSolidActionList"/>
    <dgm:cxn modelId="{6557338A-B5E8-498A-AC9B-0FA53F9292DB}" type="presParOf" srcId="{A218FE52-8156-41AE-A554-EE9ACD10CCE9}" destId="{4C89DCC0-75A1-4689-B6E6-01B878134C4C}" srcOrd="0" destOrd="0" presId="urn:microsoft.com/office/officeart/2016/7/layout/VerticalSolidActionList"/>
    <dgm:cxn modelId="{A3D12B3A-6CCD-4A3E-9FBB-E5A9C57BA0DC}" type="presParOf" srcId="{A218FE52-8156-41AE-A554-EE9ACD10CCE9}" destId="{FA0D09DF-A7FA-4EFC-9DB8-93498B14E577}" srcOrd="1" destOrd="0" presId="urn:microsoft.com/office/officeart/2016/7/layout/VerticalSolidActionList"/>
    <dgm:cxn modelId="{2AF4DA91-FB46-4C7C-A0CF-03251779C317}" type="presParOf" srcId="{2BBF9DD6-0FA7-4C0B-939C-CA8052F4E335}" destId="{CAD63078-83E1-49C5-99A4-356A069C03C4}" srcOrd="9" destOrd="0" presId="urn:microsoft.com/office/officeart/2016/7/layout/VerticalSolidActionList"/>
    <dgm:cxn modelId="{1648C03F-1960-43EB-9243-7BDF2012D8A6}" type="presParOf" srcId="{2BBF9DD6-0FA7-4C0B-939C-CA8052F4E335}" destId="{4134B935-1593-49BA-A1CF-67B15AE2D671}" srcOrd="10" destOrd="0" presId="urn:microsoft.com/office/officeart/2016/7/layout/VerticalSolidActionList"/>
    <dgm:cxn modelId="{48EEE3EE-4CD6-42A3-8A2D-C724E6DE6717}" type="presParOf" srcId="{4134B935-1593-49BA-A1CF-67B15AE2D671}" destId="{D9DDB646-96C0-407B-8530-4A04AB566D89}" srcOrd="0" destOrd="0" presId="urn:microsoft.com/office/officeart/2016/7/layout/VerticalSolidActionList"/>
    <dgm:cxn modelId="{3A30A723-F869-447F-AD61-D52361910C8B}" type="presParOf" srcId="{4134B935-1593-49BA-A1CF-67B15AE2D671}" destId="{EDAA7C70-B554-40EB-BD7F-3AD8BF620456}" srcOrd="1" destOrd="0" presId="urn:microsoft.com/office/officeart/2016/7/layout/VerticalSolidActionList"/>
    <dgm:cxn modelId="{C6261072-7694-4346-A286-B2581F0BA1D4}" type="presParOf" srcId="{2BBF9DD6-0FA7-4C0B-939C-CA8052F4E335}" destId="{3135FFA7-C3F7-4418-82D5-D964D976E5BB}" srcOrd="11" destOrd="0" presId="urn:microsoft.com/office/officeart/2016/7/layout/VerticalSolidActionList"/>
    <dgm:cxn modelId="{F554CE5F-7E06-4959-B100-4DE0F09DA1FF}" type="presParOf" srcId="{2BBF9DD6-0FA7-4C0B-939C-CA8052F4E335}" destId="{FD9621D6-6258-4E0C-8EAA-FB55736148B9}" srcOrd="12" destOrd="0" presId="urn:microsoft.com/office/officeart/2016/7/layout/VerticalSolidActionList"/>
    <dgm:cxn modelId="{5C0D071B-E24D-463E-8B0D-B5F460AE8881}" type="presParOf" srcId="{FD9621D6-6258-4E0C-8EAA-FB55736148B9}" destId="{F4CB04F9-0B44-458A-BCCD-25BB2DD2C89C}" srcOrd="0" destOrd="0" presId="urn:microsoft.com/office/officeart/2016/7/layout/VerticalSolidActionList"/>
    <dgm:cxn modelId="{C3EAB127-5646-4BD2-90B7-50D1D92D5129}" type="presParOf" srcId="{FD9621D6-6258-4E0C-8EAA-FB55736148B9}" destId="{736E2B05-B636-4051-AE36-27E15F5031A0}" srcOrd="1" destOrd="0" presId="urn:microsoft.com/office/officeart/2016/7/layout/VerticalSolidActionList"/>
    <dgm:cxn modelId="{6DC5533B-FB48-4702-B440-2EF688B07327}" type="presParOf" srcId="{2BBF9DD6-0FA7-4C0B-939C-CA8052F4E335}" destId="{9DD6A083-C675-4688-8A1B-F17587CC1400}" srcOrd="13" destOrd="0" presId="urn:microsoft.com/office/officeart/2016/7/layout/VerticalSolidActionList"/>
    <dgm:cxn modelId="{6B7D39C5-1011-457B-BC06-FEA9456BFE02}" type="presParOf" srcId="{2BBF9DD6-0FA7-4C0B-939C-CA8052F4E335}" destId="{9E93C39F-1040-4E6E-9C07-910D19B54BE7}" srcOrd="14" destOrd="0" presId="urn:microsoft.com/office/officeart/2016/7/layout/VerticalSolidActionList"/>
    <dgm:cxn modelId="{BB0FD2EA-523B-4BCC-A29F-749CCF3EA8AE}" type="presParOf" srcId="{9E93C39F-1040-4E6E-9C07-910D19B54BE7}" destId="{1149D3E6-5671-4DF1-8FF1-3836D8B9A314}" srcOrd="0" destOrd="0" presId="urn:microsoft.com/office/officeart/2016/7/layout/VerticalSolidActionList"/>
    <dgm:cxn modelId="{3697F9FB-A23E-4CED-8C4A-18A0C71A330B}" type="presParOf" srcId="{9E93C39F-1040-4E6E-9C07-910D19B54BE7}" destId="{7C2983EB-B127-43DE-9F60-623D20947DF6}" srcOrd="1" destOrd="0" presId="urn:microsoft.com/office/officeart/2016/7/layout/VerticalSolidActionList"/>
    <dgm:cxn modelId="{D7CADD68-2BAD-4D1D-9691-02B15953927C}" type="presParOf" srcId="{2BBF9DD6-0FA7-4C0B-939C-CA8052F4E335}" destId="{60792243-F41B-4E0F-A4E5-9AA4A01670D3}" srcOrd="15" destOrd="0" presId="urn:microsoft.com/office/officeart/2016/7/layout/VerticalSolidActionList"/>
    <dgm:cxn modelId="{71CB26FD-D55B-4E68-8DFC-A4FE0FCADBC0}" type="presParOf" srcId="{2BBF9DD6-0FA7-4C0B-939C-CA8052F4E335}" destId="{36B6B405-71B5-4B42-89ED-0EF7B852D7FB}" srcOrd="16" destOrd="0" presId="urn:microsoft.com/office/officeart/2016/7/layout/VerticalSolidActionList"/>
    <dgm:cxn modelId="{2C936EA9-A021-4609-AD37-49D613D0898E}" type="presParOf" srcId="{36B6B405-71B5-4B42-89ED-0EF7B852D7FB}" destId="{21466340-CB5C-4072-8E7A-8658B11B69B7}" srcOrd="0" destOrd="0" presId="urn:microsoft.com/office/officeart/2016/7/layout/VerticalSolidActionList"/>
    <dgm:cxn modelId="{16F0FB50-A7EB-44D6-AB3D-6BA3AE41A55C}" type="presParOf" srcId="{36B6B405-71B5-4B42-89ED-0EF7B852D7FB}" destId="{AA0CD981-89DD-44C1-BD56-672B3CE2867B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B271C8-BF5A-49E3-B5F8-41421FDDBE7E}">
      <dsp:nvSpPr>
        <dsp:cNvPr id="0" name=""/>
        <dsp:cNvSpPr/>
      </dsp:nvSpPr>
      <dsp:spPr>
        <a:xfrm>
          <a:off x="2103120" y="339"/>
          <a:ext cx="8412480" cy="45893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16568" rIns="163225" bIns="116568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" panose="02040504050005020304" pitchFamily="18" charset="0"/>
            </a:rPr>
            <a:t>serial_no, game_id, title, url_slug, cover_image_url, official_website</a:t>
          </a:r>
        </a:p>
      </dsp:txBody>
      <dsp:txXfrm>
        <a:off x="2103120" y="339"/>
        <a:ext cx="8412480" cy="458930"/>
      </dsp:txXfrm>
    </dsp:sp>
    <dsp:sp modelId="{B35313E7-0448-4B5C-A0DC-98D2577756BB}">
      <dsp:nvSpPr>
        <dsp:cNvPr id="0" name=""/>
        <dsp:cNvSpPr/>
      </dsp:nvSpPr>
      <dsp:spPr>
        <a:xfrm>
          <a:off x="0" y="339"/>
          <a:ext cx="2103120" cy="4589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45332" rIns="111290" bIns="4533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masis MT Pro" panose="02040504050005020304" pitchFamily="18" charset="0"/>
            </a:rPr>
            <a:t>Identity</a:t>
          </a:r>
        </a:p>
      </dsp:txBody>
      <dsp:txXfrm>
        <a:off x="0" y="339"/>
        <a:ext cx="2103120" cy="458930"/>
      </dsp:txXfrm>
    </dsp:sp>
    <dsp:sp modelId="{10961700-8549-414A-B8E5-33F49611AADD}">
      <dsp:nvSpPr>
        <dsp:cNvPr id="0" name=""/>
        <dsp:cNvSpPr/>
      </dsp:nvSpPr>
      <dsp:spPr>
        <a:xfrm>
          <a:off x="2103120" y="486805"/>
          <a:ext cx="8412480" cy="458930"/>
        </a:xfrm>
        <a:prstGeom prst="rect">
          <a:avLst/>
        </a:prstGeom>
        <a:solidFill>
          <a:schemeClr val="accent2">
            <a:tint val="40000"/>
            <a:alpha val="90000"/>
            <a:hueOff val="841840"/>
            <a:satOff val="-7779"/>
            <a:lumOff val="-8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841840"/>
              <a:satOff val="-7779"/>
              <a:lumOff val="-8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16568" rIns="163225" bIns="116568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" panose="02040504050005020304" pitchFamily="18" charset="0"/>
            </a:rPr>
            <a:t>release_date, release_year, decade</a:t>
          </a:r>
        </a:p>
      </dsp:txBody>
      <dsp:txXfrm>
        <a:off x="2103120" y="486805"/>
        <a:ext cx="8412480" cy="458930"/>
      </dsp:txXfrm>
    </dsp:sp>
    <dsp:sp modelId="{B32F3FDE-659E-4069-AF42-44110C4E69AD}">
      <dsp:nvSpPr>
        <dsp:cNvPr id="0" name=""/>
        <dsp:cNvSpPr/>
      </dsp:nvSpPr>
      <dsp:spPr>
        <a:xfrm>
          <a:off x="0" y="486805"/>
          <a:ext cx="2103120" cy="458930"/>
        </a:xfrm>
        <a:prstGeom prst="rect">
          <a:avLst/>
        </a:prstGeom>
        <a:solidFill>
          <a:schemeClr val="accent2">
            <a:hueOff val="805452"/>
            <a:satOff val="-2312"/>
            <a:lumOff val="-3701"/>
            <a:alphaOff val="0"/>
          </a:schemeClr>
        </a:solidFill>
        <a:ln w="19050" cap="flat" cmpd="sng" algn="ctr">
          <a:solidFill>
            <a:schemeClr val="accent2">
              <a:hueOff val="805452"/>
              <a:satOff val="-2312"/>
              <a:lumOff val="-37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45332" rIns="111290" bIns="4533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masis MT Pro" panose="02040504050005020304" pitchFamily="18" charset="0"/>
            </a:rPr>
            <a:t>Release Info</a:t>
          </a:r>
        </a:p>
      </dsp:txBody>
      <dsp:txXfrm>
        <a:off x="0" y="486805"/>
        <a:ext cx="2103120" cy="458930"/>
      </dsp:txXfrm>
    </dsp:sp>
    <dsp:sp modelId="{3B9AE47F-01F0-4925-B219-543843835052}">
      <dsp:nvSpPr>
        <dsp:cNvPr id="0" name=""/>
        <dsp:cNvSpPr/>
      </dsp:nvSpPr>
      <dsp:spPr>
        <a:xfrm>
          <a:off x="2103120" y="973271"/>
          <a:ext cx="8412480" cy="458930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16568" rIns="163225" bIns="116568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" panose="02040504050005020304" pitchFamily="18" charset="0"/>
            </a:rPr>
            <a:t>all_genres, theme, art_style, view_dimension, game_mode, is_multiplayer, is_multi_platform, controls</a:t>
          </a:r>
        </a:p>
      </dsp:txBody>
      <dsp:txXfrm>
        <a:off x="2103120" y="973271"/>
        <a:ext cx="8412480" cy="458930"/>
      </dsp:txXfrm>
    </dsp:sp>
    <dsp:sp modelId="{16F58B1B-32F8-4340-A6E6-30C1F2919085}">
      <dsp:nvSpPr>
        <dsp:cNvPr id="0" name=""/>
        <dsp:cNvSpPr/>
      </dsp:nvSpPr>
      <dsp:spPr>
        <a:xfrm>
          <a:off x="0" y="973271"/>
          <a:ext cx="2103120" cy="458930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45332" rIns="111290" bIns="4533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masis MT Pro" panose="02040504050005020304" pitchFamily="18" charset="0"/>
            </a:rPr>
            <a:t>Game Characteristics</a:t>
          </a:r>
        </a:p>
      </dsp:txBody>
      <dsp:txXfrm>
        <a:off x="0" y="973271"/>
        <a:ext cx="2103120" cy="458930"/>
      </dsp:txXfrm>
    </dsp:sp>
    <dsp:sp modelId="{22254C12-D281-4D21-B680-BD642978DE14}">
      <dsp:nvSpPr>
        <dsp:cNvPr id="0" name=""/>
        <dsp:cNvSpPr/>
      </dsp:nvSpPr>
      <dsp:spPr>
        <a:xfrm>
          <a:off x="2103120" y="1459737"/>
          <a:ext cx="8412480" cy="458930"/>
        </a:xfrm>
        <a:prstGeom prst="rect">
          <a:avLst/>
        </a:prstGeom>
        <a:solidFill>
          <a:schemeClr val="accent2">
            <a:tint val="40000"/>
            <a:alpha val="90000"/>
            <a:hueOff val="2525519"/>
            <a:satOff val="-23337"/>
            <a:lumOff val="-263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525519"/>
              <a:satOff val="-23337"/>
              <a:lumOff val="-26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16568" rIns="163225" bIns="116568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" panose="02040504050005020304" pitchFamily="18" charset="0"/>
            </a:rPr>
            <a:t>developers, publishers</a:t>
          </a:r>
        </a:p>
      </dsp:txBody>
      <dsp:txXfrm>
        <a:off x="2103120" y="1459737"/>
        <a:ext cx="8412480" cy="458930"/>
      </dsp:txXfrm>
    </dsp:sp>
    <dsp:sp modelId="{E4B6C8D1-8280-42EC-8A79-2F42E48FDD7F}">
      <dsp:nvSpPr>
        <dsp:cNvPr id="0" name=""/>
        <dsp:cNvSpPr/>
      </dsp:nvSpPr>
      <dsp:spPr>
        <a:xfrm>
          <a:off x="0" y="1459737"/>
          <a:ext cx="2103120" cy="458930"/>
        </a:xfrm>
        <a:prstGeom prst="rect">
          <a:avLst/>
        </a:prstGeom>
        <a:solidFill>
          <a:schemeClr val="accent2">
            <a:hueOff val="2416355"/>
            <a:satOff val="-6935"/>
            <a:lumOff val="-11103"/>
            <a:alphaOff val="0"/>
          </a:schemeClr>
        </a:solidFill>
        <a:ln w="19050" cap="flat" cmpd="sng" algn="ctr">
          <a:solidFill>
            <a:schemeClr val="accent2">
              <a:hueOff val="2416355"/>
              <a:satOff val="-6935"/>
              <a:lumOff val="-111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45332" rIns="111290" bIns="4533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masis MT Pro" panose="02040504050005020304" pitchFamily="18" charset="0"/>
            </a:rPr>
            <a:t>Developers &amp; Publishers</a:t>
          </a:r>
        </a:p>
      </dsp:txBody>
      <dsp:txXfrm>
        <a:off x="0" y="1459737"/>
        <a:ext cx="2103120" cy="458930"/>
      </dsp:txXfrm>
    </dsp:sp>
    <dsp:sp modelId="{FA0D09DF-A7FA-4EFC-9DB8-93498B14E577}">
      <dsp:nvSpPr>
        <dsp:cNvPr id="0" name=""/>
        <dsp:cNvSpPr/>
      </dsp:nvSpPr>
      <dsp:spPr>
        <a:xfrm>
          <a:off x="2103120" y="1946203"/>
          <a:ext cx="8412480" cy="458930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16568" rIns="163225" bIns="116568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" panose="02040504050005020304" pitchFamily="18" charset="0"/>
            </a:rPr>
            <a:t>all_platforms, platform_count, available_stores</a:t>
          </a:r>
        </a:p>
      </dsp:txBody>
      <dsp:txXfrm>
        <a:off x="2103120" y="1946203"/>
        <a:ext cx="8412480" cy="458930"/>
      </dsp:txXfrm>
    </dsp:sp>
    <dsp:sp modelId="{4C89DCC0-75A1-4689-B6E6-01B878134C4C}">
      <dsp:nvSpPr>
        <dsp:cNvPr id="0" name=""/>
        <dsp:cNvSpPr/>
      </dsp:nvSpPr>
      <dsp:spPr>
        <a:xfrm>
          <a:off x="0" y="1946203"/>
          <a:ext cx="2103120" cy="458930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45332" rIns="111290" bIns="4533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masis MT Pro" panose="02040504050005020304" pitchFamily="18" charset="0"/>
            </a:rPr>
            <a:t>Platforms &amp; Stores</a:t>
          </a:r>
        </a:p>
      </dsp:txBody>
      <dsp:txXfrm>
        <a:off x="0" y="1946203"/>
        <a:ext cx="2103120" cy="458930"/>
      </dsp:txXfrm>
    </dsp:sp>
    <dsp:sp modelId="{EDAA7C70-B554-40EB-BD7F-3AD8BF620456}">
      <dsp:nvSpPr>
        <dsp:cNvPr id="0" name=""/>
        <dsp:cNvSpPr/>
      </dsp:nvSpPr>
      <dsp:spPr>
        <a:xfrm>
          <a:off x="2103120" y="2432669"/>
          <a:ext cx="8412480" cy="458930"/>
        </a:xfrm>
        <a:prstGeom prst="rect">
          <a:avLst/>
        </a:prstGeom>
        <a:solidFill>
          <a:schemeClr val="accent2">
            <a:tint val="40000"/>
            <a:alpha val="90000"/>
            <a:hueOff val="4209199"/>
            <a:satOff val="-38895"/>
            <a:lumOff val="-438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209199"/>
              <a:satOff val="-38895"/>
              <a:lumOff val="-43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16568" rIns="163225" bIns="116568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" panose="02040504050005020304" pitchFamily="18" charset="0"/>
            </a:rPr>
            <a:t>user_rating, rating_tier, metacritic, metacritic_tier, ratings_count, reviews_count, esrb_rating</a:t>
          </a:r>
        </a:p>
      </dsp:txBody>
      <dsp:txXfrm>
        <a:off x="2103120" y="2432669"/>
        <a:ext cx="8412480" cy="458930"/>
      </dsp:txXfrm>
    </dsp:sp>
    <dsp:sp modelId="{D9DDB646-96C0-407B-8530-4A04AB566D89}">
      <dsp:nvSpPr>
        <dsp:cNvPr id="0" name=""/>
        <dsp:cNvSpPr/>
      </dsp:nvSpPr>
      <dsp:spPr>
        <a:xfrm>
          <a:off x="0" y="2432669"/>
          <a:ext cx="2103120" cy="458930"/>
        </a:xfrm>
        <a:prstGeom prst="rect">
          <a:avLst/>
        </a:prstGeom>
        <a:solidFill>
          <a:schemeClr val="accent2">
            <a:hueOff val="4027259"/>
            <a:satOff val="-11558"/>
            <a:lumOff val="-18506"/>
            <a:alphaOff val="0"/>
          </a:schemeClr>
        </a:solidFill>
        <a:ln w="19050" cap="flat" cmpd="sng" algn="ctr">
          <a:solidFill>
            <a:schemeClr val="accent2">
              <a:hueOff val="4027259"/>
              <a:satOff val="-11558"/>
              <a:lumOff val="-185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45332" rIns="111290" bIns="4533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masis MT Pro" panose="02040504050005020304" pitchFamily="18" charset="0"/>
            </a:rPr>
            <a:t>Ratings &amp; Reviews</a:t>
          </a:r>
        </a:p>
      </dsp:txBody>
      <dsp:txXfrm>
        <a:off x="0" y="2432669"/>
        <a:ext cx="2103120" cy="458930"/>
      </dsp:txXfrm>
    </dsp:sp>
    <dsp:sp modelId="{736E2B05-B636-4051-AE36-27E15F5031A0}">
      <dsp:nvSpPr>
        <dsp:cNvPr id="0" name=""/>
        <dsp:cNvSpPr/>
      </dsp:nvSpPr>
      <dsp:spPr>
        <a:xfrm>
          <a:off x="2103120" y="2919135"/>
          <a:ext cx="8412480" cy="458930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16568" rIns="163225" bIns="116568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" panose="02040504050005020304" pitchFamily="18" charset="0"/>
            </a:rPr>
            <a:t>popularity_score, engagement_score, library_count, avg_playtime_hours, achievements_count, game_series_count</a:t>
          </a:r>
        </a:p>
      </dsp:txBody>
      <dsp:txXfrm>
        <a:off x="2103120" y="2919135"/>
        <a:ext cx="8412480" cy="458930"/>
      </dsp:txXfrm>
    </dsp:sp>
    <dsp:sp modelId="{F4CB04F9-0B44-458A-BCCD-25BB2DD2C89C}">
      <dsp:nvSpPr>
        <dsp:cNvPr id="0" name=""/>
        <dsp:cNvSpPr/>
      </dsp:nvSpPr>
      <dsp:spPr>
        <a:xfrm>
          <a:off x="0" y="2919135"/>
          <a:ext cx="2103120" cy="458930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45332" rIns="111290" bIns="4533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masis MT Pro" panose="02040504050005020304" pitchFamily="18" charset="0"/>
            </a:rPr>
            <a:t>Engagement &amp; Popularity</a:t>
          </a:r>
        </a:p>
      </dsp:txBody>
      <dsp:txXfrm>
        <a:off x="0" y="2919135"/>
        <a:ext cx="2103120" cy="458930"/>
      </dsp:txXfrm>
    </dsp:sp>
    <dsp:sp modelId="{7C2983EB-B127-43DE-9F60-623D20947DF6}">
      <dsp:nvSpPr>
        <dsp:cNvPr id="0" name=""/>
        <dsp:cNvSpPr/>
      </dsp:nvSpPr>
      <dsp:spPr>
        <a:xfrm>
          <a:off x="2103120" y="3405601"/>
          <a:ext cx="8412480" cy="458930"/>
        </a:xfrm>
        <a:prstGeom prst="rect">
          <a:avLst/>
        </a:prstGeom>
        <a:solidFill>
          <a:schemeClr val="accent2">
            <a:tint val="40000"/>
            <a:alpha val="90000"/>
            <a:hueOff val="5892878"/>
            <a:satOff val="-54453"/>
            <a:lumOff val="-61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892878"/>
              <a:satOff val="-54453"/>
              <a:lumOff val="-61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16568" rIns="163225" bIns="116568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" panose="02040504050005020304" pitchFamily="18" charset="0"/>
            </a:rPr>
            <a:t>status_owned, status_beaten, status_playing, status_dropped, status_toplay, status_yet</a:t>
          </a:r>
        </a:p>
      </dsp:txBody>
      <dsp:txXfrm>
        <a:off x="2103120" y="3405601"/>
        <a:ext cx="8412480" cy="458930"/>
      </dsp:txXfrm>
    </dsp:sp>
    <dsp:sp modelId="{1149D3E6-5671-4DF1-8FF1-3836D8B9A314}">
      <dsp:nvSpPr>
        <dsp:cNvPr id="0" name=""/>
        <dsp:cNvSpPr/>
      </dsp:nvSpPr>
      <dsp:spPr>
        <a:xfrm>
          <a:off x="0" y="3405601"/>
          <a:ext cx="2103120" cy="458930"/>
        </a:xfrm>
        <a:prstGeom prst="rect">
          <a:avLst/>
        </a:prstGeom>
        <a:solidFill>
          <a:schemeClr val="accent2">
            <a:hueOff val="5638162"/>
            <a:satOff val="-16181"/>
            <a:lumOff val="-25908"/>
            <a:alphaOff val="0"/>
          </a:schemeClr>
        </a:solidFill>
        <a:ln w="19050" cap="flat" cmpd="sng" algn="ctr">
          <a:solidFill>
            <a:schemeClr val="accent2">
              <a:hueOff val="5638162"/>
              <a:satOff val="-16181"/>
              <a:lumOff val="-259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45332" rIns="111290" bIns="4533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masis MT Pro" panose="02040504050005020304" pitchFamily="18" charset="0"/>
            </a:rPr>
            <a:t>Player Status Tracking</a:t>
          </a:r>
        </a:p>
      </dsp:txBody>
      <dsp:txXfrm>
        <a:off x="0" y="3405601"/>
        <a:ext cx="2103120" cy="458930"/>
      </dsp:txXfrm>
    </dsp:sp>
    <dsp:sp modelId="{AA0CD981-89DD-44C1-BD56-672B3CE2867B}">
      <dsp:nvSpPr>
        <dsp:cNvPr id="0" name=""/>
        <dsp:cNvSpPr/>
      </dsp:nvSpPr>
      <dsp:spPr>
        <a:xfrm>
          <a:off x="2103120" y="3892067"/>
          <a:ext cx="8412480" cy="45893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116568" rIns="163225" bIns="116568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" panose="02040504050005020304" pitchFamily="18" charset="0"/>
            </a:rPr>
            <a:t>all_tags, description_clean</a:t>
          </a:r>
        </a:p>
      </dsp:txBody>
      <dsp:txXfrm>
        <a:off x="2103120" y="3892067"/>
        <a:ext cx="8412480" cy="458930"/>
      </dsp:txXfrm>
    </dsp:sp>
    <dsp:sp modelId="{21466340-CB5C-4072-8E7A-8658B11B69B7}">
      <dsp:nvSpPr>
        <dsp:cNvPr id="0" name=""/>
        <dsp:cNvSpPr/>
      </dsp:nvSpPr>
      <dsp:spPr>
        <a:xfrm>
          <a:off x="0" y="3892067"/>
          <a:ext cx="2103120" cy="45893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45332" rIns="111290" bIns="4533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masis MT Pro" panose="02040504050005020304" pitchFamily="18" charset="0"/>
            </a:rPr>
            <a:t>Tags &amp; Description</a:t>
          </a:r>
        </a:p>
      </dsp:txBody>
      <dsp:txXfrm>
        <a:off x="0" y="3892067"/>
        <a:ext cx="2103120" cy="458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CF8A9-B94F-0210-D50D-2D884425C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F0B58-2405-8F9A-80CA-B1D55B233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7E5B9-41F5-80D0-0D9F-12D3CBBAC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4A58-936F-48DD-AFE8-28D9F06FE5E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68F15-A6BD-D439-FE3E-A654BBB4C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52622-7708-04DF-B64B-A580C0A5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D7EF-270E-41D8-9EB6-EE78ECD3A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34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3529-3439-8AC9-26C4-95D6586CC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9CB41-8C95-DC59-979C-386FFB0DC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944FC-91DA-5A28-C688-C4CC4B723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4A58-936F-48DD-AFE8-28D9F06FE5E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9D7C8-0DA0-6A23-4049-B057A40D9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EC121-09DE-77E0-E3A4-749625CD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D7EF-270E-41D8-9EB6-EE78ECD3A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28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C3C2-4CDC-9273-9C1C-DC79EDAED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6001A-9FDD-CA2A-BCE0-0354BF95A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EC077-F809-C935-02E1-2E561F5E0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4A58-936F-48DD-AFE8-28D9F06FE5E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CD1F6-43C4-22C9-BF15-BA901C22C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68F7-C700-3DEE-FC76-4C0CE4D2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D7EF-270E-41D8-9EB6-EE78ECD3A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21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9442-9A9B-6D33-BBA3-307B268A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FD57A-BF34-B785-0FF9-0164F1807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1BE8D-D0D8-BC5A-C0E2-6C4CCEBDD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FEFD0-100C-A41D-1BF2-627252D52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4A58-936F-48DD-AFE8-28D9F06FE5E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8B2CDB-D204-5AF2-AEB3-F64E565A4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8981-E834-816F-E770-D454E4AF7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D7EF-270E-41D8-9EB6-EE78ECD3A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49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9EECE-80C5-F713-D3D9-4BAC2A3E0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0BC02-0512-3C8A-1222-79EA7CF0D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39601-97BB-9C6E-B1E6-6D99CDFCA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EB508-64E8-870D-652E-78F32A8ED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3B3942-6C85-FC96-203C-B7D815E9B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3A6D9D-C193-F64D-FF45-5984F16F1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4A58-936F-48DD-AFE8-28D9F06FE5E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D3140C-6714-F362-0919-29B72E1F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0C00C-13B7-99DC-93D5-D8D91DA5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D7EF-270E-41D8-9EB6-EE78ECD3A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98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36659-5657-F33F-32CE-0F155D8E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35A72B-1112-941D-9A25-6A261689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4A58-936F-48DD-AFE8-28D9F06FE5E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A94C4-5255-03CB-B8CD-3477E066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18681-C1F5-5572-277F-9B727029F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D7EF-270E-41D8-9EB6-EE78ECD3A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48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040386-C49F-3FFA-9C4E-4C3E43E7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4A58-936F-48DD-AFE8-28D9F06FE5E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0C0C5F-A89A-4AA5-6B8F-CEC787B30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70E54-4843-CD42-B4DB-58B6F68AB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D7EF-270E-41D8-9EB6-EE78ECD3A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63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E817-6310-B3B3-8E38-17E2AA92F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2B19A-945A-F939-A4EF-3A59528F2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35895-0623-3A07-76E0-9A1270029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EA7AF-148C-D9B8-3123-1CECB6CB7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4A58-936F-48DD-AFE8-28D9F06FE5E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3572A-D131-3D62-C4CC-5C9F7813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43C5B-F017-1A9E-853E-C2A33179A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D7EF-270E-41D8-9EB6-EE78ECD3A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11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0D4F1-DFEA-B2D0-6F61-AEDD48395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D5A67-7346-E60A-E50C-CBE4C68A5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0F264-9C9E-0914-BC22-F93ECAE1F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8A753-D5C0-9ABA-FC7D-7A9077B20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4A58-936F-48DD-AFE8-28D9F06FE5E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64116-47C4-6BAE-1E48-4204037D3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39084-A091-7EFA-A22A-A5ADF47D7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D7EF-270E-41D8-9EB6-EE78ECD3A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34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CBAA-E42F-728D-A69F-7BA414A6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3B34C-0D7F-A634-BFFC-F066E26DE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A2D68-CEE9-F9BE-F027-7D26AA76C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4A58-936F-48DD-AFE8-28D9F06FE5E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12247-5A35-DF77-06E1-CD35AE572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5E52C-6796-5D8E-0BEE-6EB2F1B1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D7EF-270E-41D8-9EB6-EE78ECD3A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42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23617-8D19-3ABB-026E-50972CD4F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46111-E53E-E0D1-7397-127B74417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86ED2-0A1F-1479-9CBB-9116E31A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4A58-936F-48DD-AFE8-28D9F06FE5E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5A12C-8DED-DF94-E6FA-178A07B12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11713-749D-9419-5FB3-BCA4F47B8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D7EF-270E-41D8-9EB6-EE78ECD3A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2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BC12D-C557-ECFC-3C26-66D15D781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E60BC-C4E0-B3E1-F9BE-D2E74EE27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E028B-5174-F360-40B8-11265392C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0A4A58-936F-48DD-AFE8-28D9F06FE5ED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F3D80-7558-CA1E-BC93-39CEB029C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E22A0-2455-EFA1-ABCB-96E7C0A3A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DED7EF-270E-41D8-9EB6-EE78ECD3A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3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rudrakumargupta/ultimate-games-dataset-15k-games-43-featur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1049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61C5403-9B2D-EE4E-8725-64F3BF676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44" b="-1"/>
          <a:stretch>
            <a:fillRect/>
          </a:stretch>
        </p:blipFill>
        <p:spPr bwMode="auto">
          <a:xfrm>
            <a:off x="20" y="10"/>
            <a:ext cx="1218893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9F16AB-F040-4330-D1EA-36A35A37A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978720"/>
            <a:ext cx="9144000" cy="1209232"/>
          </a:xfrm>
          <a:solidFill>
            <a:schemeClr val="accent2">
              <a:lumMod val="20000"/>
              <a:lumOff val="80000"/>
            </a:schemeClr>
          </a:solidFill>
          <a:effectLst>
            <a:softEdge rad="127000"/>
          </a:effectLst>
        </p:spPr>
        <p:txBody>
          <a:bodyPr>
            <a:noAutofit/>
          </a:bodyPr>
          <a:lstStyle/>
          <a:p>
            <a:r>
              <a:rPr lang="en-US">
                <a:solidFill>
                  <a:schemeClr val="accent2">
                    <a:lumMod val="75000"/>
                  </a:schemeClr>
                </a:solidFill>
                <a:latin typeface="Amasis MT Pro Medium" panose="020F0502020204030204" pitchFamily="18" charset="0"/>
              </a:rPr>
              <a:t>Ultimate Games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7E2418-93FF-9DE2-CE14-BB6CBBA05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9272" y="4617720"/>
            <a:ext cx="5550408" cy="457200"/>
          </a:xfrm>
          <a:solidFill>
            <a:schemeClr val="accent2">
              <a:lumMod val="20000"/>
              <a:lumOff val="80000"/>
            </a:schemeClr>
          </a:solidFill>
          <a:effectLst>
            <a:softEdge rad="63500"/>
          </a:effectLst>
        </p:spPr>
        <p:txBody>
          <a:bodyPr anchor="ctr">
            <a:normAutofit fontScale="92500"/>
          </a:bodyPr>
          <a:lstStyle/>
          <a:p>
            <a:r>
              <a:rPr lang="en-US">
                <a:solidFill>
                  <a:schemeClr val="accent2">
                    <a:lumMod val="75000"/>
                  </a:schemeClr>
                </a:solidFill>
                <a:latin typeface="Amasis MT Pro Medium" panose="02040604050005020304" pitchFamily="18" charset="0"/>
              </a:rPr>
              <a:t>By: Ryan Fitzgerald &amp; Melissa Weitekamp</a:t>
            </a:r>
          </a:p>
        </p:txBody>
      </p:sp>
      <p:sp>
        <p:nvSpPr>
          <p:cNvPr id="1051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3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4DD0D8-6540-5E96-4BC7-5D32E94D2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latin typeface="Amasis MT Pro Medium" panose="02040604050005020304" pitchFamily="18" charset="0"/>
              </a:rPr>
              <a:t>Kaggle Ultimate Games 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BE669-AA23-7418-028E-7A1106F5A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1500">
                <a:latin typeface="Amasis MT Pro" panose="020F0502020204030204" pitchFamily="18" charset="0"/>
                <a:cs typeface="Angsana New" panose="020B0502040204020203" pitchFamily="18" charset="-34"/>
                <a:hlinkClick r:id="rId2"/>
              </a:rPr>
              <a:t>https://www.kaggle.com/datasets/rudrakumargupta/ultimate-games-dataset-15k-games-43-features</a:t>
            </a:r>
            <a:endParaRPr lang="en-US" sz="1500">
              <a:latin typeface="Amasis MT Pro" panose="020F0502020204030204" pitchFamily="18" charset="0"/>
              <a:cs typeface="Angsana New" panose="020B0502040204020203" pitchFamily="18" charset="-34"/>
            </a:endParaRPr>
          </a:p>
          <a:p>
            <a:endParaRPr lang="en-US" sz="1500">
              <a:latin typeface="Amasis MT Pro" panose="020F0502020204030204" pitchFamily="18" charset="0"/>
              <a:cs typeface="Angsana New" panose="020B0502040204020203" pitchFamily="18" charset="-34"/>
            </a:endParaRPr>
          </a:p>
          <a:p>
            <a:r>
              <a:rPr lang="en-US" sz="1500">
                <a:latin typeface="Amasis MT Pro" panose="020F0502020204030204" pitchFamily="18" charset="0"/>
                <a:cs typeface="Angsana New" panose="020B0502040204020203" pitchFamily="18" charset="-34"/>
              </a:rPr>
              <a:t>Dataset of 15,000 video games spanning 1979 to 2026. Covered everything from ratings and playtime to platforms, genres, art styles, and store availability.</a:t>
            </a:r>
          </a:p>
          <a:p>
            <a:endParaRPr lang="en-US" sz="1500">
              <a:latin typeface="Amasis MT Pro" panose="020F0502020204030204" pitchFamily="18" charset="0"/>
              <a:cs typeface="Angsana New" panose="020B0502040204020203" pitchFamily="18" charset="-34"/>
            </a:endParaRPr>
          </a:p>
          <a:p>
            <a:r>
              <a:rPr lang="en-US" sz="1500">
                <a:latin typeface="Amasis MT Pro" panose="020F0502020204030204" pitchFamily="18" charset="0"/>
                <a:cs typeface="Angsana New" panose="020B0502040204020203" pitchFamily="18" charset="-34"/>
              </a:rPr>
              <a:t>Core game metadata was collected via the RAWG Video Games API (rawg.io), which aggregates data from Steam, Metacritic, PlayStation Store, Xbox Store, Epic Games, GOG, and Nintendo Store.</a:t>
            </a:r>
          </a:p>
          <a:p>
            <a:endParaRPr lang="en-US" sz="1500">
              <a:latin typeface="Amasis MT Pro" panose="020F0502020204030204" pitchFamily="18" charset="0"/>
              <a:cs typeface="Angsana New" panose="020B0502040204020203" pitchFamily="18" charset="-34"/>
            </a:endParaRPr>
          </a:p>
          <a:p>
            <a:r>
              <a:rPr lang="en-US" sz="1500">
                <a:latin typeface="Amasis MT Pro" panose="020F0502020204030204" pitchFamily="18" charset="0"/>
                <a:cs typeface="Angsana New" panose="020B0502040204020203" pitchFamily="18" charset="-34"/>
              </a:rPr>
              <a:t>Additional features including theme, </a:t>
            </a:r>
            <a:r>
              <a:rPr lang="en-US" sz="1500" err="1">
                <a:latin typeface="Amasis MT Pro" panose="020F0502020204030204" pitchFamily="18" charset="0"/>
                <a:cs typeface="Angsana New" panose="020B0502040204020203" pitchFamily="18" charset="-34"/>
              </a:rPr>
              <a:t>art_style</a:t>
            </a:r>
            <a:r>
              <a:rPr lang="en-US" sz="1500">
                <a:latin typeface="Amasis MT Pro" panose="020F0502020204030204" pitchFamily="18" charset="0"/>
                <a:cs typeface="Angsana New" panose="020B0502040204020203" pitchFamily="18" charset="-34"/>
              </a:rPr>
              <a:t>, </a:t>
            </a:r>
            <a:r>
              <a:rPr lang="en-US" sz="1500" err="1">
                <a:latin typeface="Amasis MT Pro" panose="020F0502020204030204" pitchFamily="18" charset="0"/>
                <a:cs typeface="Angsana New" panose="020B0502040204020203" pitchFamily="18" charset="-34"/>
              </a:rPr>
              <a:t>view_dimension</a:t>
            </a:r>
            <a:r>
              <a:rPr lang="en-US" sz="1500">
                <a:latin typeface="Amasis MT Pro" panose="020F0502020204030204" pitchFamily="18" charset="0"/>
                <a:cs typeface="Angsana New" panose="020B0502040204020203" pitchFamily="18" charset="-34"/>
              </a:rPr>
              <a:t>, </a:t>
            </a:r>
            <a:r>
              <a:rPr lang="en-US" sz="1500" err="1">
                <a:latin typeface="Amasis MT Pro" panose="020F0502020204030204" pitchFamily="18" charset="0"/>
                <a:cs typeface="Angsana New" panose="020B0502040204020203" pitchFamily="18" charset="-34"/>
              </a:rPr>
              <a:t>game_mode</a:t>
            </a:r>
            <a:r>
              <a:rPr lang="en-US" sz="1500">
                <a:latin typeface="Amasis MT Pro" panose="020F0502020204030204" pitchFamily="18" charset="0"/>
                <a:cs typeface="Angsana New" panose="020B0502040204020203" pitchFamily="18" charset="-34"/>
              </a:rPr>
              <a:t>, </a:t>
            </a:r>
            <a:r>
              <a:rPr lang="en-US" sz="1500" err="1">
                <a:latin typeface="Amasis MT Pro" panose="020F0502020204030204" pitchFamily="18" charset="0"/>
                <a:cs typeface="Angsana New" panose="020B0502040204020203" pitchFamily="18" charset="-34"/>
              </a:rPr>
              <a:t>popularity_score</a:t>
            </a:r>
            <a:r>
              <a:rPr lang="en-US" sz="1500">
                <a:latin typeface="Amasis MT Pro" panose="020F0502020204030204" pitchFamily="18" charset="0"/>
                <a:cs typeface="Angsana New" panose="020B0502040204020203" pitchFamily="18" charset="-34"/>
              </a:rPr>
              <a:t>, </a:t>
            </a:r>
            <a:r>
              <a:rPr lang="en-US" sz="1500" err="1">
                <a:latin typeface="Amasis MT Pro" panose="020F0502020204030204" pitchFamily="18" charset="0"/>
                <a:cs typeface="Angsana New" panose="020B0502040204020203" pitchFamily="18" charset="-34"/>
              </a:rPr>
              <a:t>engagement_score</a:t>
            </a:r>
            <a:r>
              <a:rPr lang="en-US" sz="1500">
                <a:latin typeface="Amasis MT Pro" panose="020F0502020204030204" pitchFamily="18" charset="0"/>
                <a:cs typeface="Angsana New" panose="020B0502040204020203" pitchFamily="18" charset="-34"/>
              </a:rPr>
              <a:t>, </a:t>
            </a:r>
            <a:r>
              <a:rPr lang="en-US" sz="1500" err="1">
                <a:latin typeface="Amasis MT Pro" panose="020F0502020204030204" pitchFamily="18" charset="0"/>
                <a:cs typeface="Angsana New" panose="020B0502040204020203" pitchFamily="18" charset="-34"/>
              </a:rPr>
              <a:t>rating_tier</a:t>
            </a:r>
            <a:r>
              <a:rPr lang="en-US" sz="1500">
                <a:latin typeface="Amasis MT Pro" panose="020F0502020204030204" pitchFamily="18" charset="0"/>
                <a:cs typeface="Angsana New" panose="020B0502040204020203" pitchFamily="18" charset="-34"/>
              </a:rPr>
              <a:t>, </a:t>
            </a:r>
            <a:r>
              <a:rPr lang="en-US" sz="1500" err="1">
                <a:latin typeface="Amasis MT Pro" panose="020F0502020204030204" pitchFamily="18" charset="0"/>
                <a:cs typeface="Angsana New" panose="020B0502040204020203" pitchFamily="18" charset="-34"/>
              </a:rPr>
              <a:t>metacritic_tier</a:t>
            </a:r>
            <a:r>
              <a:rPr lang="en-US" sz="1500">
                <a:latin typeface="Amasis MT Pro" panose="020F0502020204030204" pitchFamily="18" charset="0"/>
                <a:cs typeface="Angsana New" panose="020B0502040204020203" pitchFamily="18" charset="-34"/>
              </a:rPr>
              <a:t>, decade, and </a:t>
            </a:r>
            <a:r>
              <a:rPr lang="en-US" sz="1500" err="1">
                <a:latin typeface="Amasis MT Pro" panose="020F0502020204030204" pitchFamily="18" charset="0"/>
                <a:cs typeface="Angsana New" panose="020B0502040204020203" pitchFamily="18" charset="-34"/>
              </a:rPr>
              <a:t>is_multi_platform</a:t>
            </a:r>
            <a:r>
              <a:rPr lang="en-US" sz="1500">
                <a:latin typeface="Amasis MT Pro" panose="020F0502020204030204" pitchFamily="18" charset="0"/>
                <a:cs typeface="Angsana New" panose="020B0502040204020203" pitchFamily="18" charset="-34"/>
              </a:rPr>
              <a:t> were derived and engineered independently by the author’s data processing and cleaning.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80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F6805-A14E-6FDF-05EC-18F72CE7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latin typeface="Amasis MT Pro Medium" panose="02040604050005020304" pitchFamily="18" charset="0"/>
              </a:rPr>
              <a:t>Column Groups &amp; Names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9F9450-E4C8-8EDB-08F2-696CF3D9F1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64568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299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626ED4-86A6-2901-220A-91CECE7E0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Amasis MT Pro Medium" panose="02040604050005020304" pitchFamily="18" charset="0"/>
              </a:rPr>
              <a:t>Analysis Goal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9DEDE-E899-E464-11C2-5BD89D865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>
                <a:latin typeface="Amasis MT Pro" panose="02040504050005020304" pitchFamily="18" charset="0"/>
              </a:rPr>
              <a:t>What genre has the most average hours played?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>
                <a:latin typeface="Amasis MT Pro" panose="02040504050005020304" pitchFamily="18" charset="0"/>
              </a:rPr>
              <a:t>Do games with higher platform counts have higher completion status?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>
                <a:latin typeface="Amasis MT Pro" panose="02040504050005020304" pitchFamily="18" charset="0"/>
              </a:rPr>
              <a:t>Do multiplayer, singleplayer, or single &amp; multiplayer games have higher </a:t>
            </a:r>
            <a:r>
              <a:rPr lang="en-US" sz="2400" err="1">
                <a:latin typeface="Amasis MT Pro" panose="02040504050005020304" pitchFamily="18" charset="0"/>
              </a:rPr>
              <a:t>metacritic</a:t>
            </a:r>
            <a:r>
              <a:rPr lang="en-US" sz="2400">
                <a:latin typeface="Amasis MT Pro" panose="02040504050005020304" pitchFamily="18" charset="0"/>
              </a:rPr>
              <a:t> scores?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>
                <a:latin typeface="Amasis MT Pro" panose="02040504050005020304" pitchFamily="18" charset="0"/>
              </a:rPr>
              <a:t>What decades had the highest rated games?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>
                <a:latin typeface="Amasis MT Pro" panose="02040504050005020304" pitchFamily="18" charset="0"/>
              </a:rPr>
              <a:t>What was the shift in game’s genres and themes over the decades?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>
                <a:latin typeface="Amasis MT Pro" panose="02040504050005020304" pitchFamily="18" charset="0"/>
              </a:rPr>
              <a:t>Predict user ratings of games based on metadata</a:t>
            </a:r>
          </a:p>
          <a:p>
            <a:pPr marL="514350" indent="-514350">
              <a:buFont typeface="+mj-lt"/>
              <a:buAutoNum type="arabicPeriod"/>
            </a:pPr>
            <a:endParaRPr lang="en-US" sz="240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69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121CC-3843-723E-B83F-3A015EC0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kern="1200">
                <a:latin typeface="Amasis MT Pro Medium" panose="02040604050005020304" pitchFamily="18" charset="0"/>
              </a:rPr>
              <a:t>Data Loading &amp; Cleaning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7346F-7A85-41EE-F69E-A2C3CCF7D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kern="1200" dirty="0">
                <a:latin typeface="Amasis MT Pro" panose="02040504050005020304" pitchFamily="18" charset="0"/>
              </a:rPr>
              <a:t>Import the dataset then display the first 5 rows.</a:t>
            </a:r>
          </a:p>
          <a:p>
            <a:r>
              <a:rPr lang="en-US" sz="2000" dirty="0">
                <a:latin typeface="Amasis MT Pro" panose="02040504050005020304" pitchFamily="18" charset="0"/>
              </a:rPr>
              <a:t>Then get more info on each of the columns, such as count and statistical summaries of each column</a:t>
            </a:r>
            <a:endParaRPr lang="en-US" sz="2000" kern="1200" dirty="0">
              <a:latin typeface="Amasis MT Pro" panose="020405040500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92AC8-49CC-9A02-7AC1-2A8E13A6F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67" y="1148643"/>
            <a:ext cx="4389120" cy="18324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40CA66-D0E3-6140-5EFC-65D0F5CD5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4388344"/>
            <a:ext cx="4389120" cy="95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1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DF1A630-2A9B-41A0-92F9-FDA26107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2CA47-1D9C-552D-51EA-5ABB5C8D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3700">
                <a:latin typeface="Amasis MT Pro Medium" panose="02040604050005020304" pitchFamily="18" charset="0"/>
              </a:rPr>
              <a:t>Data Loading &amp; Cleaning Cont.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5B349-6BA6-9D77-E4A9-0D1F460F6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1829634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Amasis MT Pro" panose="02040504050005020304" pitchFamily="18" charset="0"/>
              </a:rPr>
              <a:t>Create a new dataset with necessary columns</a:t>
            </a:r>
          </a:p>
          <a:p>
            <a:r>
              <a:rPr lang="en-US" sz="2000" dirty="0">
                <a:latin typeface="Amasis MT Pro" panose="02040504050005020304" pitchFamily="18" charset="0"/>
              </a:rPr>
              <a:t>Locate missing values, then handle them</a:t>
            </a:r>
          </a:p>
          <a:p>
            <a:pPr lvl="1"/>
            <a:r>
              <a:rPr lang="en-US" sz="1600" dirty="0">
                <a:latin typeface="Amasis MT Pro" panose="02040504050005020304" pitchFamily="18" charset="0"/>
              </a:rPr>
              <a:t>Unavailable playtime hours, user ratings, and Metacritic scores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1350FD-7F38-1893-EC9C-18CB0484F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330" y="3026229"/>
            <a:ext cx="2466802" cy="29649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36A1F0-4199-51D9-CAA0-430730109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714" y="4477296"/>
            <a:ext cx="5691596" cy="1223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C2974C-1BE5-BDEC-7A5A-CB9714FA2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953" y="696754"/>
            <a:ext cx="5293521" cy="208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DF1A630-2A9B-41A0-92F9-FDA26107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6CB22-5450-C0EC-0249-5E4C98892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 fontScale="90000"/>
          </a:bodyPr>
          <a:lstStyle/>
          <a:p>
            <a:r>
              <a:rPr lang="en-US" sz="3100">
                <a:latin typeface="Amasis MT Pro Medium" panose="02040604050005020304" pitchFamily="18" charset="0"/>
              </a:rPr>
              <a:t>Question 1: What genre has the most average hours played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0D357-B585-D024-7EB0-6BD2EA073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1948409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Amasis MT Pro" panose="02040504050005020304" pitchFamily="18" charset="0"/>
              </a:rPr>
              <a:t>Sport games have the most average hours (7.47 hours on average)</a:t>
            </a:r>
          </a:p>
          <a:p>
            <a:r>
              <a:rPr lang="en-US" sz="2000">
                <a:latin typeface="Amasis MT Pro" panose="02040504050005020304" pitchFamily="18" charset="0"/>
              </a:rPr>
              <a:t>Fighting is 2</a:t>
            </a:r>
            <a:r>
              <a:rPr lang="en-US" sz="2000" baseline="30000">
                <a:latin typeface="Amasis MT Pro" panose="02040504050005020304" pitchFamily="18" charset="0"/>
              </a:rPr>
              <a:t>nd</a:t>
            </a:r>
            <a:r>
              <a:rPr lang="en-US" sz="2000">
                <a:latin typeface="Amasis MT Pro" panose="02040504050005020304" pitchFamily="18" charset="0"/>
              </a:rPr>
              <a:t> with 6.28 hours</a:t>
            </a:r>
          </a:p>
          <a:p>
            <a:r>
              <a:rPr lang="en-US" sz="2000">
                <a:latin typeface="Amasis MT Pro" panose="02040504050005020304" pitchFamily="18" charset="0"/>
              </a:rPr>
              <a:t>Casual games have the least average amount (3.21 hours)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8E803-9914-9000-6D35-22F8BB5E6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168" y="3615019"/>
            <a:ext cx="2161858" cy="26058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B25BE7-779B-9BE2-57D2-3568AA82D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460" y="671566"/>
            <a:ext cx="4753622" cy="27897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CD4105-1AA0-8076-DCBC-077E62807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599" y="4673822"/>
            <a:ext cx="6138558" cy="137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1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29707-66AF-17A7-D079-0CE9A82A5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2500">
                <a:latin typeface="Amasis MT Pro Medium" panose="02040604050005020304" pitchFamily="18" charset="0"/>
              </a:rPr>
              <a:t>Question 2: Do games with higher platform counts have higher completion status?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2C267-9818-EF21-13BB-470D8BE80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Amasis MT Pro" panose="02040504050005020304" pitchFamily="18" charset="0"/>
              </a:rPr>
              <a:t>On average, the more platform releases a game has, the more likely the game will be played and beaten (positive trend)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9063A9-78FD-3B82-13CF-B99DE6D40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1489475"/>
            <a:ext cx="4397433" cy="703589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210FC-3C7D-BF27-1143-1AE01CC9F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185" y="3707894"/>
            <a:ext cx="4324044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5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6C30A-DA83-A688-70D2-E2DB9E66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anchor="ctr">
            <a:normAutofit/>
          </a:bodyPr>
          <a:lstStyle/>
          <a:p>
            <a:r>
              <a:rPr lang="en-US" sz="2500" dirty="0">
                <a:latin typeface="Amasis MT Pro Medium" panose="02040604050005020304" pitchFamily="18" charset="0"/>
              </a:rPr>
              <a:t>Question 3: Do multiplayer, singleplayer, or single &amp; multiplayer games have higher Metacritic scores?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E31BEF-EFC3-522B-2375-59102AB7E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10" y="364143"/>
            <a:ext cx="4758975" cy="3426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A0BFA3-A807-C58B-F117-CA5296213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778" y="540662"/>
            <a:ext cx="5136795" cy="1014516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7F048-E554-681A-9EBA-2CD574D6E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495568"/>
            <a:ext cx="6586915" cy="1905232"/>
          </a:xfrm>
        </p:spPr>
        <p:txBody>
          <a:bodyPr anchor="ctr">
            <a:normAutofit/>
          </a:bodyPr>
          <a:lstStyle/>
          <a:p>
            <a:r>
              <a:rPr lang="en-US" sz="1800">
                <a:latin typeface="Amasis MT Pro" panose="02040504050005020304" pitchFamily="18" charset="0"/>
              </a:rPr>
              <a:t>Not really, the scores are close in range for all three game mode types. </a:t>
            </a:r>
          </a:p>
          <a:p>
            <a:r>
              <a:rPr lang="en-US" sz="1800">
                <a:latin typeface="Amasis MT Pro" panose="02040504050005020304" pitchFamily="18" charset="0"/>
              </a:rPr>
              <a:t>Games that have both game modes do have a slightly higher score.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602DED-D3AD-1187-7CCF-DF669F515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306" y="2065711"/>
            <a:ext cx="3336953" cy="122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60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016CB47-C4D4-4332-9ED0-DBB916252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0BE4D-DFA4-6943-0309-1E5AA9239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3930305"/>
            <a:ext cx="3861960" cy="2437244"/>
          </a:xfrm>
        </p:spPr>
        <p:txBody>
          <a:bodyPr anchor="ctr">
            <a:normAutofit/>
          </a:bodyPr>
          <a:lstStyle/>
          <a:p>
            <a:r>
              <a:rPr lang="en-US" sz="3600">
                <a:latin typeface="Amasis MT Pro Medium" panose="02040604050005020304" pitchFamily="18" charset="0"/>
              </a:rPr>
              <a:t>Question 4: What decades had the highest rated games?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35578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6EB18A-A45E-84D9-B15C-5E379D86C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2523"/>
            <a:ext cx="3335789" cy="25351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784EFA-8F07-A7E1-7F3E-28027D7BC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396" y="542936"/>
            <a:ext cx="3336953" cy="24943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E21EF6-E409-8911-A668-D08B0F3A7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756" y="1343805"/>
            <a:ext cx="3336953" cy="89263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35346" y="5126067"/>
            <a:ext cx="219456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9549A-C5F4-18F2-D5F8-92A2BC437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3930305"/>
            <a:ext cx="6586915" cy="2437244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Amasis MT Pro" panose="02040504050005020304" pitchFamily="18" charset="0"/>
              </a:rPr>
              <a:t>The 2000s had the highest Metacritic rating games on average with 1990s close in score.</a:t>
            </a:r>
          </a:p>
          <a:p>
            <a:r>
              <a:rPr lang="en-US" sz="2000" dirty="0">
                <a:latin typeface="Amasis MT Pro" panose="02040504050005020304" pitchFamily="18" charset="0"/>
              </a:rPr>
              <a:t>The 2020s are close in critical reception for Metacritic scoring average</a:t>
            </a:r>
          </a:p>
          <a:p>
            <a:r>
              <a:rPr lang="en-US" sz="2000" dirty="0">
                <a:latin typeface="Amasis MT Pro" panose="02040504050005020304" pitchFamily="18" charset="0"/>
              </a:rPr>
              <a:t>The 1990s had the highest average user rating for games, with 1980s in 2nd, and 2000s in 3rd.</a:t>
            </a:r>
          </a:p>
        </p:txBody>
      </p:sp>
    </p:spTree>
    <p:extLst>
      <p:ext uri="{BB962C8B-B14F-4D97-AF65-F5344CB8AC3E}">
        <p14:creationId xmlns:p14="http://schemas.microsoft.com/office/powerpoint/2010/main" val="1018374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EEEEAA75-AA19-426C-A43C-35F6F9119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563E8F-AE59-AADE-2B24-9A84C7DCA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47" y="349664"/>
            <a:ext cx="5562868" cy="1638377"/>
          </a:xfrm>
        </p:spPr>
        <p:txBody>
          <a:bodyPr anchor="b">
            <a:normAutofit/>
          </a:bodyPr>
          <a:lstStyle/>
          <a:p>
            <a:r>
              <a:rPr lang="en-US" sz="3700">
                <a:latin typeface="Amasis MT Pro Medium" panose="02040604050005020304" pitchFamily="18" charset="0"/>
              </a:rPr>
              <a:t>Question 5-1: What was the shift in game’s genres over the decades?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8F1FB-3EED-AA1D-CE05-E0E54FD15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88" y="2620641"/>
            <a:ext cx="5555425" cy="3023702"/>
          </a:xfrm>
        </p:spPr>
        <p:txBody>
          <a:bodyPr anchor="ctr">
            <a:normAutofit/>
          </a:bodyPr>
          <a:lstStyle/>
          <a:p>
            <a:r>
              <a:rPr lang="en-US" sz="1800" dirty="0">
                <a:latin typeface="Amasis MT Pro" panose="02040504050005020304" pitchFamily="18" charset="0"/>
              </a:rPr>
              <a:t>The 1970s had an even mix of Adventure, RPG, Shooter, and Arcade games</a:t>
            </a:r>
          </a:p>
          <a:p>
            <a:r>
              <a:rPr lang="en-US" sz="1800" dirty="0">
                <a:latin typeface="Amasis MT Pro" panose="02040504050005020304" pitchFamily="18" charset="0"/>
              </a:rPr>
              <a:t>The 1980s had a big rise in Action based games and it stayed till the 2000s</a:t>
            </a:r>
          </a:p>
          <a:p>
            <a:r>
              <a:rPr lang="en-US" sz="1800" dirty="0">
                <a:latin typeface="Amasis MT Pro" panose="02040504050005020304" pitchFamily="18" charset="0"/>
              </a:rPr>
              <a:t>By 2010s, there was a rise in Indie games. Adventure and Action games were behind it.</a:t>
            </a:r>
          </a:p>
          <a:p>
            <a:r>
              <a:rPr lang="en-US" sz="1800" dirty="0">
                <a:latin typeface="Amasis MT Pro" panose="02040504050005020304" pitchFamily="18" charset="0"/>
              </a:rPr>
              <a:t>The 2020s had a steady proportion of indie games overall alongside Adventure. Casual games rose this decade.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9144" y="198171"/>
            <a:ext cx="5191082" cy="31049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5C54AD-5E64-C61B-99CB-91EF1B35F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162" y="579734"/>
            <a:ext cx="4731046" cy="2341867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669568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BB19363-8354-4E75-A15C-A08F75517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9144" y="3527725"/>
            <a:ext cx="5191082" cy="31049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7C3803-B974-52CF-9F7E-0E8A5DD91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163" y="4441530"/>
            <a:ext cx="4731046" cy="1277382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787731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4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EEEAA75-AA19-426C-A43C-35F6F9119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ADB6DF-C7DA-5BCD-BB79-CB6642FF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47" y="349664"/>
            <a:ext cx="5562868" cy="1638377"/>
          </a:xfrm>
        </p:spPr>
        <p:txBody>
          <a:bodyPr anchor="b">
            <a:normAutofit fontScale="90000"/>
          </a:bodyPr>
          <a:lstStyle/>
          <a:p>
            <a:r>
              <a:rPr lang="en-US" sz="3700">
                <a:latin typeface="Amasis MT Pro Medium" panose="02040604050005020304" pitchFamily="18" charset="0"/>
              </a:rPr>
              <a:t>Question 5-2: What was the shift in game’s themes over the decades?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DBB66-2DE7-B1F8-2DB8-197EFDE4A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88" y="2620641"/>
            <a:ext cx="5555425" cy="3023702"/>
          </a:xfrm>
        </p:spPr>
        <p:txBody>
          <a:bodyPr anchor="ctr">
            <a:normAutofit/>
          </a:bodyPr>
          <a:lstStyle/>
          <a:p>
            <a:r>
              <a:rPr lang="en-US" sz="1500">
                <a:latin typeface="Amasis MT Pro" panose="02040504050005020304" pitchFamily="18" charset="0"/>
              </a:rPr>
              <a:t>The 1970s themes were evenly Not Specified or Historical</a:t>
            </a:r>
          </a:p>
          <a:p>
            <a:r>
              <a:rPr lang="en-US" sz="1500">
                <a:latin typeface="Amasis MT Pro" panose="02040504050005020304" pitchFamily="18" charset="0"/>
              </a:rPr>
              <a:t>The 1980s had a rise in General and Fantasy themes</a:t>
            </a:r>
          </a:p>
          <a:p>
            <a:r>
              <a:rPr lang="en-US" sz="1500">
                <a:latin typeface="Amasis MT Pro" panose="02040504050005020304" pitchFamily="18" charset="0"/>
              </a:rPr>
              <a:t>The 1990s had a rise in Sci-Fi themed games.</a:t>
            </a:r>
          </a:p>
          <a:p>
            <a:r>
              <a:rPr lang="en-US" sz="1500">
                <a:latin typeface="Amasis MT Pro" panose="02040504050005020304" pitchFamily="18" charset="0"/>
              </a:rPr>
              <a:t>The 1990s and 2000s had a similar proportion of themes to 1980s. Fantasy games steady rose over the two decades.</a:t>
            </a:r>
          </a:p>
          <a:p>
            <a:r>
              <a:rPr lang="en-US" sz="1500">
                <a:latin typeface="Amasis MT Pro" panose="02040504050005020304" pitchFamily="18" charset="0"/>
              </a:rPr>
              <a:t>By 2010s, Horror and General themed games increased in proportion, but Sci-Fi was still the top theme.</a:t>
            </a:r>
          </a:p>
          <a:p>
            <a:r>
              <a:rPr lang="en-US" sz="1500">
                <a:latin typeface="Amasis MT Pro" panose="02040504050005020304" pitchFamily="18" charset="0"/>
              </a:rPr>
              <a:t>The 2020s had a decrease in Sci-Fi. General and Fantasy were the top themes with Horror behind it.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9144" y="198171"/>
            <a:ext cx="5191082" cy="31049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758DED-E9F7-8690-7D6F-9A9D4D3E5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162" y="561993"/>
            <a:ext cx="4731046" cy="23773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669568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B19363-8354-4E75-A15C-A08F75517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9144" y="3527725"/>
            <a:ext cx="5191082" cy="31049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791C29-E666-E1AE-11AA-9CD77630B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163" y="4482927"/>
            <a:ext cx="4731046" cy="119458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787731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1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6ECA6DCB-B7E1-40A9-9524-540C6DA40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18459-C26C-1F7F-2927-F11F7E3B5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 fontScale="90000"/>
          </a:bodyPr>
          <a:lstStyle/>
          <a:p>
            <a:r>
              <a:rPr lang="en-US" sz="3100">
                <a:latin typeface="Amasis MT Pro Medium" panose="02040604050005020304" pitchFamily="18" charset="0"/>
              </a:rPr>
              <a:t>Question 6: Predict user ratings of games based on metadata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ontent Placeholder 10">
            <a:extLst>
              <a:ext uri="{FF2B5EF4-FFF2-40B4-BE49-F238E27FC236}">
                <a16:creationId xmlns:a16="http://schemas.microsoft.com/office/drawing/2014/main" id="{8E2ED583-70D1-A9B4-6273-447B5E226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Amasis MT Pro" panose="02040504050005020304" pitchFamily="18" charset="0"/>
              </a:rPr>
              <a:t>RMSE (Root Mean Squared Error) has a larger value than MSE, so there are some outliers but nothing concerning.</a:t>
            </a:r>
          </a:p>
          <a:p>
            <a:r>
              <a:rPr lang="en-US" sz="2000">
                <a:latin typeface="Amasis MT Pro" panose="02040504050005020304" pitchFamily="18" charset="0"/>
              </a:rPr>
              <a:t>MAE (Mean Absolute Error) is relatively low, indicating an accurate model with the absolute differences between forecasted and actual values being close.</a:t>
            </a:r>
          </a:p>
          <a:p>
            <a:r>
              <a:rPr lang="en-US" sz="2000">
                <a:latin typeface="Amasis MT Pro" panose="02040504050005020304" pitchFamily="18" charset="0"/>
              </a:rPr>
              <a:t>R-Sqaure is 0.6056, or 60.56%. R-Squared represents how well independent variables predict the dependent variable; it's larger value indicts an accurate model.</a:t>
            </a:r>
          </a:p>
          <a:p>
            <a:endParaRPr lang="en-US" sz="2000">
              <a:latin typeface="Amasis MT Pro" panose="02040504050005020304" pitchFamily="18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8FE4D9-1806-C855-061D-F079499F44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019" b="3"/>
          <a:stretch>
            <a:fillRect/>
          </a:stretch>
        </p:blipFill>
        <p:spPr>
          <a:xfrm>
            <a:off x="7083423" y="581892"/>
            <a:ext cx="4397433" cy="2518756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C84BF5-EBA4-3E87-6A21-A25E4977AF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75" r="1" b="1"/>
          <a:stretch>
            <a:fillRect/>
          </a:stretch>
        </p:blipFill>
        <p:spPr>
          <a:xfrm>
            <a:off x="7083423" y="3707894"/>
            <a:ext cx="4395569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8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508CDA-D45A-D58E-F29E-1ED58C01C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Amasis MT Pro Medium" panose="02040604050005020304" pitchFamily="18" charset="0"/>
              </a:rPr>
              <a:t>User Rating Prediction ScatterPlot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ntent Placeholder 8">
            <a:extLst>
              <a:ext uri="{FF2B5EF4-FFF2-40B4-BE49-F238E27FC236}">
                <a16:creationId xmlns:a16="http://schemas.microsoft.com/office/drawing/2014/main" id="{53BCCEAC-FB09-0BF7-F65D-FC7389B7F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Amasis MT Pro" panose="02040504050005020304" pitchFamily="18" charset="0"/>
              </a:rPr>
              <a:t>Shows the correlation of user ratings being close to predicted user ratings. The evaluated metrics support the accuracy of the model.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1232A1-BBFB-B27D-769B-F96D79FC1A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5422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7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4BE8-3097-F1CC-B7D7-E164DD5D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 Away from Analyzing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B2A01-7923-1028-9D73-0244778E7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Analyzing this dataset showed how certain game characteristics affect engagement with players (Genres). </a:t>
            </a:r>
          </a:p>
          <a:p>
            <a:r>
              <a:rPr lang="en-US"/>
              <a:t>It also showed how others don’t have much effect on critic ratings (Game Mode)</a:t>
            </a:r>
          </a:p>
          <a:p>
            <a:r>
              <a:rPr lang="en-US"/>
              <a:t>The 1990s and 2000s had high critical reception while the 1990s and 1980s were more in favor of users’ ratings.</a:t>
            </a:r>
          </a:p>
          <a:p>
            <a:r>
              <a:rPr lang="en-US"/>
              <a:t>It revealed how the trends and genres of games have shifted over time. Indie and Adventure genres and General and Fantasy themes are the most common ones in our current decade.</a:t>
            </a:r>
          </a:p>
          <a:p>
            <a:r>
              <a:rPr lang="en-US"/>
              <a:t>Finally, we can predict the likely score of upcoming games based on certain metadata.</a:t>
            </a:r>
          </a:p>
        </p:txBody>
      </p:sp>
    </p:spTree>
    <p:extLst>
      <p:ext uri="{BB962C8B-B14F-4D97-AF65-F5344CB8AC3E}">
        <p14:creationId xmlns:p14="http://schemas.microsoft.com/office/powerpoint/2010/main" val="406630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82b21b-cb1e-4336-8a6c-99aa8373372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29D3E915ECF44DA02137BE41AF6B7A" ma:contentTypeVersion="11" ma:contentTypeDescription="Create a new document." ma:contentTypeScope="" ma:versionID="2dd1df0fd85b6c21665688b7f8a77375">
  <xsd:schema xmlns:xsd="http://www.w3.org/2001/XMLSchema" xmlns:xs="http://www.w3.org/2001/XMLSchema" xmlns:p="http://schemas.microsoft.com/office/2006/metadata/properties" xmlns:ns3="6b82b21b-cb1e-4336-8a6c-99aa83733726" targetNamespace="http://schemas.microsoft.com/office/2006/metadata/properties" ma:root="true" ma:fieldsID="48055d7779d14942ead744409de35c31" ns3:_="">
    <xsd:import namespace="6b82b21b-cb1e-4336-8a6c-99aa8373372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82b21b-cb1e-4336-8a6c-99aa8373372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55E82E-1945-4DBB-A4D3-A3568E1D9BC3}">
  <ds:schemaRefs>
    <ds:schemaRef ds:uri="http://purl.org/dc/terms/"/>
    <ds:schemaRef ds:uri="6b82b21b-cb1e-4336-8a6c-99aa83733726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3F929E5-A7FB-42DD-B055-D163944C2946}">
  <ds:schemaRefs>
    <ds:schemaRef ds:uri="6b82b21b-cb1e-4336-8a6c-99aa8373372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793D010-43FF-48BA-81D4-0B9F46969F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</Words>
  <Application>Microsoft Office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Amasis MT Pro</vt:lpstr>
      <vt:lpstr>Amasis MT Pro Medium</vt:lpstr>
      <vt:lpstr>Aptos</vt:lpstr>
      <vt:lpstr>Aptos Display</vt:lpstr>
      <vt:lpstr>Arial</vt:lpstr>
      <vt:lpstr>Office Theme</vt:lpstr>
      <vt:lpstr>Ultimate Games Dataset</vt:lpstr>
      <vt:lpstr>Kaggle Ultimate Games Dataset Description</vt:lpstr>
      <vt:lpstr>Column Groups &amp; Names</vt:lpstr>
      <vt:lpstr>Analysis Goal</vt:lpstr>
      <vt:lpstr>Data Loading &amp; Cleaning</vt:lpstr>
      <vt:lpstr>Data Loading &amp; Cleaning Cont.</vt:lpstr>
      <vt:lpstr>Question 1: What genre has the most average hours played</vt:lpstr>
      <vt:lpstr>Question 2: Do games with higher platform counts have higher completion status?</vt:lpstr>
      <vt:lpstr>Question 3: Do multiplayer, singleplayer, or single &amp; multiplayer games have higher Metacritic scores?</vt:lpstr>
      <vt:lpstr>Question 4: What decades had the highest rated games?</vt:lpstr>
      <vt:lpstr>Question 5-1: What was the shift in game’s genres over the decades?</vt:lpstr>
      <vt:lpstr>Question 5-2: What was the shift in game’s themes over the decades?</vt:lpstr>
      <vt:lpstr>Question 6: Predict user ratings of games based on metadata</vt:lpstr>
      <vt:lpstr>User Rating Prediction ScatterPlot</vt:lpstr>
      <vt:lpstr>Take Away from Analyzing the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Weitekamp, Melissa</dc:creator>
  <cp:lastModifiedBy>Fitzgerald, Ryan</cp:lastModifiedBy>
  <cp:revision>2</cp:revision>
  <dcterms:created xsi:type="dcterms:W3CDTF">2026-04-28T13:09:05Z</dcterms:created>
  <dcterms:modified xsi:type="dcterms:W3CDTF">2026-05-03T22:44:47Z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0x0101004529D3E915ECF44DA02137BE41AF6B7A</vt:lpwstr>
  </property>
</Properties>
</file>